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833657ac4d49e9" /><Relationship Type="http://schemas.openxmlformats.org/officeDocument/2006/relationships/extended-properties" Target="/docProps/app.xml" Id="R99cde023063c469f" /><Relationship Type="http://schemas.openxmlformats.org/officeDocument/2006/relationships/officeDocument" Target="/ppt/presentation.xml" Id="R9b53434cb1a24b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4fb09e7ef4403c"/>
  </p:sldMasterIdLst>
  <p:notesMasterIdLst>
    <p:notesMasterId xmlns:r="http://schemas.openxmlformats.org/officeDocument/2006/relationships" r:id="R4ef8cae6555c4f70"/>
  </p:notesMasterIdLst>
  <p:sldIdLst>
    <p:sldId xmlns:r="http://schemas.openxmlformats.org/officeDocument/2006/relationships" id="256" r:id="R0eb4e41961e74beb"/>
    <p:sldId xmlns:r="http://schemas.openxmlformats.org/officeDocument/2006/relationships" id="257" r:id="Rb6512ae0d2384c2a"/>
    <p:sldId xmlns:r="http://schemas.openxmlformats.org/officeDocument/2006/relationships" id="258" r:id="R9547e2312024448c"/>
    <p:sldId xmlns:r="http://schemas.openxmlformats.org/officeDocument/2006/relationships" id="259" r:id="R488d32e76d7c4360"/>
    <p:sldId xmlns:r="http://schemas.openxmlformats.org/officeDocument/2006/relationships" id="260" r:id="Rb26e59f4f0b1412d"/>
    <p:sldId xmlns:r="http://schemas.openxmlformats.org/officeDocument/2006/relationships" id="261" r:id="R3e2348c963be468e"/>
    <p:sldId xmlns:r="http://schemas.openxmlformats.org/officeDocument/2006/relationships" id="262" r:id="R412490e39fdb4b94"/>
    <p:sldId xmlns:r="http://schemas.openxmlformats.org/officeDocument/2006/relationships" id="263" r:id="Rbba9809e23a44930"/>
    <p:sldId xmlns:r="http://schemas.openxmlformats.org/officeDocument/2006/relationships" id="264" r:id="R90fe6a6afd994952"/>
    <p:sldId xmlns:r="http://schemas.openxmlformats.org/officeDocument/2006/relationships" id="265" r:id="R12e9db80469f4206"/>
    <p:sldId xmlns:r="http://schemas.openxmlformats.org/officeDocument/2006/relationships" id="266" r:id="R51f501fef2bf4b1c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431af614f6494b" /><Relationship Type="http://schemas.openxmlformats.org/officeDocument/2006/relationships/slideMaster" Target="/ppt/slideMasters/slideMaster1.xml" Id="Re64fb09e7ef4403c" /><Relationship Type="http://schemas.openxmlformats.org/officeDocument/2006/relationships/notesMaster" Target="/ppt/notesMasters/notesMaster1.xml" Id="R4ef8cae6555c4f70" /><Relationship Type="http://schemas.openxmlformats.org/officeDocument/2006/relationships/presProps" Target="/ppt/presProps.xml" Id="R0b4083d975fb4998" /><Relationship Type="http://schemas.openxmlformats.org/officeDocument/2006/relationships/tableStyles" Target="/ppt/tableStyles.xml" Id="Rbf78976e8fbe44ff" /><Relationship Type="http://schemas.openxmlformats.org/officeDocument/2006/relationships/slide" Target="/ppt/slides/slide1.xml" Id="R0eb4e41961e74beb" /><Relationship Type="http://schemas.openxmlformats.org/officeDocument/2006/relationships/slide" Target="/ppt/slides/slide2.xml" Id="Rb6512ae0d2384c2a" /><Relationship Type="http://schemas.openxmlformats.org/officeDocument/2006/relationships/slide" Target="/ppt/slides/slide3.xml" Id="R9547e2312024448c" /><Relationship Type="http://schemas.openxmlformats.org/officeDocument/2006/relationships/slide" Target="/ppt/slides/slide4.xml" Id="R488d32e76d7c4360" /><Relationship Type="http://schemas.openxmlformats.org/officeDocument/2006/relationships/slide" Target="/ppt/slides/slide5.xml" Id="Rb26e59f4f0b1412d" /><Relationship Type="http://schemas.openxmlformats.org/officeDocument/2006/relationships/slide" Target="/ppt/slides/slide6.xml" Id="R3e2348c963be468e" /><Relationship Type="http://schemas.openxmlformats.org/officeDocument/2006/relationships/slide" Target="/ppt/slides/slide7.xml" Id="R412490e39fdb4b94" /><Relationship Type="http://schemas.openxmlformats.org/officeDocument/2006/relationships/slide" Target="/ppt/slides/slide8.xml" Id="Rbba9809e23a44930" /><Relationship Type="http://schemas.openxmlformats.org/officeDocument/2006/relationships/slide" Target="/ppt/slides/slide9.xml" Id="R90fe6a6afd994952" /><Relationship Type="http://schemas.openxmlformats.org/officeDocument/2006/relationships/slide" Target="/ppt/slides/slide10.xml" Id="R12e9db80469f4206" /><Relationship Type="http://schemas.openxmlformats.org/officeDocument/2006/relationships/slide" Target="/ppt/slides/slide11.xml" Id="R51f501fef2bf4b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54d5a752814a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f53846ccf04127" /><Relationship Type="http://schemas.openxmlformats.org/officeDocument/2006/relationships/notesMaster" Target="/ppt/notesMasters/notesMaster1.xml" Id="Rf81e0d50d1924d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afa1a2a8354634" /><Relationship Type="http://schemas.openxmlformats.org/officeDocument/2006/relationships/notesMaster" Target="/ppt/notesMasters/notesMaster1.xml" Id="Re4056c932f8044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079f8077c644e8" /><Relationship Type="http://schemas.openxmlformats.org/officeDocument/2006/relationships/notesMaster" Target="/ppt/notesMasters/notesMaster1.xml" Id="Rcd69863d839b42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b9be4e189349f1" /><Relationship Type="http://schemas.openxmlformats.org/officeDocument/2006/relationships/notesMaster" Target="/ppt/notesMasters/notesMaster1.xml" Id="R8c4bda4c20a64e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78ea00adb54b6f" /><Relationship Type="http://schemas.openxmlformats.org/officeDocument/2006/relationships/notesMaster" Target="/ppt/notesMasters/notesMaster1.xml" Id="Rec9ea0799a1b46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2322f6c44b4f27" /><Relationship Type="http://schemas.openxmlformats.org/officeDocument/2006/relationships/notesMaster" Target="/ppt/notesMasters/notesMaster1.xml" Id="Rb6012651ea424ee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1f276dc7ef4654" /><Relationship Type="http://schemas.openxmlformats.org/officeDocument/2006/relationships/notesMaster" Target="/ppt/notesMasters/notesMaster1.xml" Id="Rf6793f54c7e445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a3f502d5034d13" /><Relationship Type="http://schemas.openxmlformats.org/officeDocument/2006/relationships/notesMaster" Target="/ppt/notesMasters/notesMaster1.xml" Id="Ra2018be370364e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c588c2bc65647bf" /><Relationship Type="http://schemas.openxmlformats.org/officeDocument/2006/relationships/notesMaster" Target="/ppt/notesMasters/notesMaster1.xml" Id="R5b3b290e1e2c40f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aa8fecdbbe34eee" /><Relationship Type="http://schemas.openxmlformats.org/officeDocument/2006/relationships/notesMaster" Target="/ppt/notesMasters/notesMaster1.xml" Id="R201d3a2b255d409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426a568143149a5" /><Relationship Type="http://schemas.openxmlformats.org/officeDocument/2006/relationships/notesMaster" Target="/ppt/notesMasters/notesMaster1.xml" Id="R7f82d2de9df44b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FluidEQ is an Equalizer APO interface with music playback and karaoke. Public Windows 10 and 11 download. No performance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Feature evidence: repository README.md, What it does; Getting started; Supporting the work. Public cross-check: https://fluideq.com/ (5 September 2026). Screenshots are existing repository product captures. Displayed media belongs to its respective owners; no affiliation or included music is implied. Decorative cover/end background generated using OpenAI image generation; original FluidEQ logo preserved.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Output mirrors playback to multiple devices with individual levels and saved EQ profiles. Each Windows output applies its own APO profile. FluidEQ must remain open. Device latency varies.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Feature evidence: repository README.md, Plays in two places at once. Public cross-check: https://fluideq.com/ (5 September 2026). Screenshots are existing repository product captures. Displayed media belongs to its respective owners; no affiliation or included music is implied. Decorative cover/end background generated using OpenAI image generation; original FluidEQ logo preserved.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Share Audio sends system audio between computers on the same private network. Multiple senders can mix at one receiver. Pairing uses a private connection code. Keep FluidEQ open on both ends. Received shared audio bypasses Library DSP.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Feature evidence: repository README.md, docs/USER-GUIDE.md: Share audio between computers; src/renderer/remoteAudio. Public cross-check: https://fluideq.com/ (5 September 2026). Screenshots are existing repository product captures. Displayed media belongs to its respective owners; no affiliation or included music is implied. Decorative cover/end background generated using OpenAI image generation; original FluidEQ logo preserved.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documented offline OPRA catalog contains 6,229 headphone models. Published correction remains independent of manual EQ. Count reflects supplied screenshots and documentation.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Feature evidence: repository README.md, Start from a measurement. Public cross-check: https://fluideq.com/ (5 September 2026). Screenshots are existing repository product captures. Displayed media belongs to its respective owners; no affiliation or included music is implied. Decorative cover/end background generated using OpenAI image generation; original FluidEQ logo preserved.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Per-device settings restore when switching outputs. System parametric EQ supports up to 128 bands and uses Equalizer APO. Second-output mirroring is visible in the existing screenshot.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Feature evidence: repository README.md, Follows your output; Six layers, one chain; Plays in two places at once. Public cross-check: https://fluideq.com/ (5 September 2026). Screenshots are existing repository product captures. Displayed media belongs to its respective owners; no affiliation or included music is implied. Decorative cover/end background generated using OpenAI image generation; original FluidEQ logo preserved.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Nine-stage native DSP rack applies to music played by FluidEQ's own local player. It does not process Spotify, YouTube or other apps. Individual stages and whole racks support saved settings.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Feature evidence: repository README.md, Shape what FluidEQ itself plays. Public cross-check: https://fluideq.com/ (5 September 2026). Screenshots are existing repository product captures. Displayed media belongs to its respective owners; no affiliation or included music is implied. Decorative cover/end background generated using OpenAI image generation; original FluidEQ logo preserved.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Library reads user-selected folders, provides album/artist/genre/song/folder/video browsing and Cover Flow, and builds the playback queue from the current view. Music is not included.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Feature evidence: repository README.md, Play what is already on the machine. Public cross-check: https://fluideq.com/ (5 September 2026). Screenshots are existing repository product captures. Displayed media belongs to its respective owners; no affiliation or included music is implied. Decorative cover/end background generated using OpenAI image generation; original FluidEQ logo preserved.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Visualizer offers selectable forms, palettes and a designer for appearance parameters. No particular performance or refresh-rate claim. Album art is shown only within the existing app screenshot.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Feature evidence: repository README.md, Watch the sound, however you like to. Public cross-check: https://fluideq.com/ (5 September 2026). Screenshots are existing repository product captures. Displayed media belongs to its respective owners; no affiliation or included music is implied. Decorative cover/end background generated using OpenAI image generation; original FluidEQ logo preserved.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Karaoke supports synchronized lyrics and user-enabled microphone pitch feedback. Real target notes require a compatible UltraStar file. LRC lyrics alone do not supply target melody. No music ships with the app.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Feature evidence: repository README.md, Sing over what you already own. Public cross-check: https://fluideq.com/ (5 September 2026). Screenshots are existing repository product captures. Displayed media belongs to its respective owners; no affiliation or included music is implied. Decorative cover/end background generated using OpenAI image generation; original FluidEQ logo preserved.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Separation, transcription and melody analysis run locally. Optional models require initial downloads. Separation is an estimate from a mixed recording and is not guaranteed to reproduce studio stems. Users supply authorized audio and lyrics.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Feature evidence: repository README.md, And make the file when the song does not have one; Local and account-free. Public cross-check: https://fluideq.com/ (5 September 2026). Screenshots are existing repository product captures. Displayed media belongs to its respective owners; no affiliation or included music is implied. Decorative cover/end background generated using OpenAI image generation; original FluidEQ logo preserved.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Free unsigned Windows 10/11 download, open source under GPL-3.0-or-later, no FluidEQ account. External media sites can have their own sign-in requirements. Creator attribution from repository README. Download destination verified on 5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Feature evidence: repository README.md, Getting started; Supporting the work. Public cross-check: https://fluideq.com/ (5 September 2026). Screenshots are existing repository product captures. Displayed media belongs to its respective owners; no affiliation or included music is implied. Decorative cover/end background generated using OpenAI image generation; original FluidEQ logo preserved.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6544599aa249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dee1735c3241a2" /><Relationship Type="http://schemas.openxmlformats.org/officeDocument/2006/relationships/slideLayout" Target="/ppt/slideLayouts/slideLayout1.xml" Id="R26bfa52eb3f644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bfa52eb3f644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a4f8d668ae4dc7" /><Relationship Type="http://schemas.openxmlformats.org/officeDocument/2006/relationships/image" Target="/ppt/media/image.png" Id="R78837124770a4819" /><Relationship Type="http://schemas.openxmlformats.org/officeDocument/2006/relationships/image" Target="/ppt/media/image2.png" Id="Rdbf11e6ea4234a8b" /><Relationship Type="http://schemas.openxmlformats.org/officeDocument/2006/relationships/image" Target="/ppt/media/image3.png" Id="R0a1e0f3d208640dc" /><Relationship Type="http://schemas.openxmlformats.org/officeDocument/2006/relationships/notesSlide" Target="/ppt/notesSlides/notesSlide1.xml" Id="R9573b8d24c4b47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6ab01bc296421e" /><Relationship Type="http://schemas.openxmlformats.org/officeDocument/2006/relationships/image" Target="/ppt/media/image4.png" Id="R388207c85eab4aaa" /><Relationship Type="http://schemas.openxmlformats.org/officeDocument/2006/relationships/image" Target="/ppt/media/image5.png" Id="R5aa2f5928c9c4c85" /><Relationship Type="http://schemas.openxmlformats.org/officeDocument/2006/relationships/notesSlide" Target="/ppt/notesSlides/notesSlide2.xml" Id="Rd4615c7cd8d243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9045f463804177" /><Relationship Type="http://schemas.openxmlformats.org/officeDocument/2006/relationships/image" Target="/ppt/media/image6.png" Id="R2a35d112f6cd4cd7" /><Relationship Type="http://schemas.openxmlformats.org/officeDocument/2006/relationships/image" Target="/ppt/media/image7.png" Id="R369092d46a3d41ff" /><Relationship Type="http://schemas.openxmlformats.org/officeDocument/2006/relationships/notesSlide" Target="/ppt/notesSlides/notesSlide3.xml" Id="Rc85b59ca0a294c5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6a17d13cf64d27" /><Relationship Type="http://schemas.openxmlformats.org/officeDocument/2006/relationships/image" Target="/ppt/media/image8.png" Id="Rc4b017407fb14a73" /><Relationship Type="http://schemas.openxmlformats.org/officeDocument/2006/relationships/image" Target="/ppt/media/image9.png" Id="R547bb3b081fe4de1" /><Relationship Type="http://schemas.openxmlformats.org/officeDocument/2006/relationships/notesSlide" Target="/ppt/notesSlides/notesSlide4.xml" Id="R823b7b8c57614d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4a207e92d543e5" /><Relationship Type="http://schemas.openxmlformats.org/officeDocument/2006/relationships/image" Target="/ppt/media/image10.png" Id="Refbf62bfac11426d" /><Relationship Type="http://schemas.openxmlformats.org/officeDocument/2006/relationships/image" Target="/ppt/media/image11.png" Id="R94aefb93af8e4ef1" /><Relationship Type="http://schemas.openxmlformats.org/officeDocument/2006/relationships/notesSlide" Target="/ppt/notesSlides/notesSlide5.xml" Id="Rc543925b8bb14f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f1a1d9487e4f5c" /><Relationship Type="http://schemas.openxmlformats.org/officeDocument/2006/relationships/image" Target="/ppt/media/image12.png" Id="Ra8070069a4af46d0" /><Relationship Type="http://schemas.openxmlformats.org/officeDocument/2006/relationships/image" Target="/ppt/media/image13.png" Id="R476f298683be4a9f" /><Relationship Type="http://schemas.openxmlformats.org/officeDocument/2006/relationships/notesSlide" Target="/ppt/notesSlides/notesSlide6.xml" Id="R01902fbfe23c41e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395821c4ac48c4" /><Relationship Type="http://schemas.openxmlformats.org/officeDocument/2006/relationships/image" Target="/ppt/media/image14.png" Id="R6261cb51c06a47aa" /><Relationship Type="http://schemas.openxmlformats.org/officeDocument/2006/relationships/image" Target="/ppt/media/image15.png" Id="Rc6284fe15e6c4b87" /><Relationship Type="http://schemas.openxmlformats.org/officeDocument/2006/relationships/notesSlide" Target="/ppt/notesSlides/notesSlide7.xml" Id="R578adb6bbde147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83717d47e44052" /><Relationship Type="http://schemas.openxmlformats.org/officeDocument/2006/relationships/image" Target="/ppt/media/image16.png" Id="R87e46fe2f6d6447e" /><Relationship Type="http://schemas.openxmlformats.org/officeDocument/2006/relationships/image" Target="/ppt/media/image17.png" Id="R6009acdabdfd4e1d" /><Relationship Type="http://schemas.openxmlformats.org/officeDocument/2006/relationships/notesSlide" Target="/ppt/notesSlides/notesSlide8.xml" Id="Ra5838927aa98499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82eb16d13e4244" /><Relationship Type="http://schemas.openxmlformats.org/officeDocument/2006/relationships/image" Target="/ppt/media/image18.png" Id="R0661195b04714440" /><Relationship Type="http://schemas.openxmlformats.org/officeDocument/2006/relationships/image" Target="/ppt/media/image19.png" Id="R57ccde5b74d0457b" /><Relationship Type="http://schemas.openxmlformats.org/officeDocument/2006/relationships/notesSlide" Target="/ppt/notesSlides/notesSlide9.xml" Id="R44215a87173e410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b0c4d3ca0a4d73" /><Relationship Type="http://schemas.openxmlformats.org/officeDocument/2006/relationships/image" Target="/ppt/media/image20.png" Id="R7c370c445f814846" /><Relationship Type="http://schemas.openxmlformats.org/officeDocument/2006/relationships/image" Target="/ppt/media/image21.png" Id="R38b4aa97198e42bf" /><Relationship Type="http://schemas.openxmlformats.org/officeDocument/2006/relationships/notesSlide" Target="/ppt/notesSlides/notesSlide10.xml" Id="R7eccd04fa347464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0cf0bb26834dbd" /><Relationship Type="http://schemas.openxmlformats.org/officeDocument/2006/relationships/image" Target="/ppt/media/image22.png" Id="R7fe7139bf9f34888" /><Relationship Type="http://schemas.openxmlformats.org/officeDocument/2006/relationships/image" Target="/ppt/media/image23.png" Id="R5a1be7e1abf24018" /><Relationship Type="http://schemas.openxmlformats.org/officeDocument/2006/relationships/notesSlide" Target="/ppt/notesSlides/notesSlide11.xml" Id="Rea6d0c3c6c7a45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F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837124770a4819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fluideq.com">
            <a:extLst xmlns:a="http://schemas.openxmlformats.org/drawingml/2006/main">
              <a:ext uri="{FF2B5EF4-FFF2-40B4-BE49-F238E27FC236}">
                <a16:creationId xmlns:a16="http://schemas.microsoft.com/office/drawing/2014/main" id="{C62C03C5-9371-4D84-B201-9AAD7BFA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2532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DD0DF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BDD0DF"/>
                </a:solidFill>
                <a:latin typeface="Segoe UI"/>
                <a:ea typeface="Segoe UI"/>
                <a:cs typeface="Segoe UI"/>
              </a:rPr>
              <a:t>fluideq.com</a:t>
            </a:r>
          </a:p>
        </p:txBody>
      </p:sp>
      <p:sp>
        <p:nvSpPr>
          <p:cNvPr id="3" name="01 / 11">
            <a:extLst xmlns:a="http://schemas.openxmlformats.org/drawingml/2006/main">
              <a:ext uri="{FF2B5EF4-FFF2-40B4-BE49-F238E27FC236}">
                <a16:creationId xmlns:a16="http://schemas.microsoft.com/office/drawing/2014/main" id="{92F2E05E-6BCD-487C-90B8-4B3E28E4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2125325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DD0D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BDD0DF"/>
                </a:solidFill>
                <a:latin typeface="Segoe UI"/>
                <a:ea typeface="Segoe UI"/>
                <a:cs typeface="Segoe UI"/>
              </a:rPr>
              <a:t>01 / 11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f11e6ea4234a8b"/>
          <a:stretch xmlns:a="http://schemas.openxmlformats.org/drawingml/2006/main"/>
        </p:blipFill>
        <p:spPr>
          <a:xfrm xmlns:a="http://schemas.openxmlformats.org/drawingml/2006/main">
            <a:off x="609600" y="609600"/>
            <a:ext cx="723900" cy="723900"/>
          </a:xfrm>
          <a:prstGeom xmlns:a="http://schemas.openxmlformats.org/drawingml/2006/main" prst="rect">
            <a:avLst/>
          </a:prstGeom>
        </p:spPr>
      </p:pic>
      <p:sp>
        <p:nvSpPr>
          <p:cNvPr id="5" name="FluidEQ">
            <a:extLst xmlns:a="http://schemas.openxmlformats.org/drawingml/2006/main">
              <a:ext uri="{FF2B5EF4-FFF2-40B4-BE49-F238E27FC236}">
                <a16:creationId xmlns:a16="http://schemas.microsoft.com/office/drawing/2014/main" id="{CC6EF61A-F2B3-4CF5-A0A5-39BF4491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8191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8250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FluidEQ</a:t>
            </a:r>
          </a:p>
        </p:txBody>
      </p:sp>
      <p:sp>
        <p:nvSpPr>
          <p:cNvPr id="6" name="Your sound, across devices and computers">
            <a:extLst xmlns:a="http://schemas.openxmlformats.org/drawingml/2006/main">
              <a:ext uri="{FF2B5EF4-FFF2-40B4-BE49-F238E27FC236}">
                <a16:creationId xmlns:a16="http://schemas.microsoft.com/office/drawing/2014/main" id="{B9CFCCA5-3984-4B57-900F-9884E287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83820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7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4725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Your sound, across</a:t>
            </a:r>
          </a:p>
          <a:p xmlns:a="http://schemas.openxmlformats.org/drawingml/2006/main">
            <a:pPr>
              <a:defRPr sz="47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4725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devices and computers</a:t>
            </a:r>
          </a:p>
        </p:txBody>
      </p:sp>
      <p:sp>
        <p:nvSpPr>
          <p:cNvPr id="7" name="Second Output. Share Audio. System-wide EQ.">
            <a:extLst xmlns:a="http://schemas.openxmlformats.org/drawingml/2006/main">
              <a:ext uri="{FF2B5EF4-FFF2-40B4-BE49-F238E27FC236}">
                <a16:creationId xmlns:a16="http://schemas.microsoft.com/office/drawing/2014/main" id="{8ECE68A3-2623-44FE-9E71-0E0060A43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BDD0DF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BDD0DF"/>
                </a:solidFill>
                <a:latin typeface="Segoe UI"/>
                <a:ea typeface="Segoe UI"/>
                <a:cs typeface="Segoe UI"/>
              </a:rPr>
              <a:t>Second Output. Share Audio. System-wide EQ.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1e0f3d208640dc"/>
          <a:stretch xmlns:a="http://schemas.openxmlformats.org/drawingml/2006/main"/>
        </p:blipFill>
        <p:spPr>
          <a:xfrm xmlns:a="http://schemas.openxmlformats.org/drawingml/2006/main">
            <a:off x="457200" y="5734050"/>
            <a:ext cx="9372600" cy="5096351"/>
          </a:xfrm>
          <a:prstGeom xmlns:a="http://schemas.openxmlformats.org/drawingml/2006/main" prst="rect">
            <a:avLst/>
          </a:prstGeom>
        </p:spPr>
      </p:pic>
      <p:sp>
        <p:nvSpPr>
          <p:cNvPr id="9" name="Free and open source">
            <a:extLst xmlns:a="http://schemas.openxmlformats.org/drawingml/2006/main">
              <a:ext uri="{FF2B5EF4-FFF2-40B4-BE49-F238E27FC236}">
                <a16:creationId xmlns:a16="http://schemas.microsoft.com/office/drawing/2014/main" id="{23C5F5B1-86C6-4BF8-BB00-CFE49760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182350"/>
            <a:ext cx="809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6DE7DC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6DE7DC"/>
                </a:solidFill>
                <a:latin typeface="Segoe UI"/>
                <a:ea typeface="Segoe UI"/>
                <a:cs typeface="Segoe UI"/>
              </a:rPr>
              <a:t>Free and open source</a:t>
            </a:r>
          </a:p>
        </p:txBody>
      </p:sp>
    </p:spTree>
    <p:extLst>
      <p:ext uri="{BB962C8B-B14F-4D97-AF65-F5344CB8AC3E}">
        <p14:creationId xmlns:p14="http://schemas.microsoft.com/office/powerpoint/2010/main" val="20343961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0F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8207c85eab4aaa"/>
          <a:stretch xmlns:a="http://schemas.openxmlformats.org/drawingml/2006/main"/>
        </p:blipFill>
        <p:spPr>
          <a:xfrm xmlns:a="http://schemas.openxmlformats.org/drawingml/2006/main">
            <a:off x="609600" y="5334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2" name="FluidEQ">
            <a:extLst xmlns:a="http://schemas.openxmlformats.org/drawingml/2006/main">
              <a:ext uri="{FF2B5EF4-FFF2-40B4-BE49-F238E27FC236}">
                <a16:creationId xmlns:a16="http://schemas.microsoft.com/office/drawing/2014/main" id="{733C4F32-5DC2-4143-927B-E9676997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4292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FluidEQ</a:t>
            </a:r>
          </a:p>
        </p:txBody>
      </p:sp>
      <p:sp>
        <p:nvSpPr>
          <p:cNvPr id="3" name="fluideq.com">
            <a:extLst xmlns:a="http://schemas.openxmlformats.org/drawingml/2006/main">
              <a:ext uri="{FF2B5EF4-FFF2-40B4-BE49-F238E27FC236}">
                <a16:creationId xmlns:a16="http://schemas.microsoft.com/office/drawing/2014/main" id="{020E9296-E94C-496B-AD9F-D013D52F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2532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DD0DF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BDD0DF"/>
                </a:solidFill>
                <a:latin typeface="Segoe UI"/>
                <a:ea typeface="Segoe UI"/>
                <a:cs typeface="Segoe UI"/>
              </a:rPr>
              <a:t>fluideq.com</a:t>
            </a:r>
          </a:p>
        </p:txBody>
      </p:sp>
      <p:sp>
        <p:nvSpPr>
          <p:cNvPr id="4" name="02 / 11">
            <a:extLst xmlns:a="http://schemas.openxmlformats.org/drawingml/2006/main">
              <a:ext uri="{FF2B5EF4-FFF2-40B4-BE49-F238E27FC236}">
                <a16:creationId xmlns:a16="http://schemas.microsoft.com/office/drawing/2014/main" id="{C44CEDD9-3906-4761-8C85-0748C4AE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2125325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DD0D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BDD0DF"/>
                </a:solidFill>
                <a:latin typeface="Segoe UI"/>
                <a:ea typeface="Segoe UI"/>
                <a:cs typeface="Segoe UI"/>
              </a:rPr>
              <a:t>02 / 11</a:t>
            </a:r>
          </a:p>
        </p:txBody>
      </p:sp>
      <p:sp>
        <p:nvSpPr>
          <p:cNvPr id="5" name="Second Output Sound in more places">
            <a:extLst xmlns:a="http://schemas.openxmlformats.org/drawingml/2006/main">
              <a:ext uri="{FF2B5EF4-FFF2-40B4-BE49-F238E27FC236}">
                <a16:creationId xmlns:a16="http://schemas.microsoft.com/office/drawing/2014/main" id="{265B8E50-56CD-419F-8C4A-D5373F3F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91059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3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5325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Second Output</a:t>
            </a:r>
          </a:p>
          <a:p xmlns:a="http://schemas.openxmlformats.org/drawingml/2006/main">
            <a:pPr>
              <a:defRPr sz="532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5325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Sound in more places</a:t>
            </a:r>
          </a:p>
        </p:txBody>
      </p:sp>
      <p:sp>
        <p:nvSpPr>
          <p:cNvPr id="6" name="Play through headphones and speakers at once. Give">
            <a:extLst xmlns:a="http://schemas.openxmlformats.org/drawingml/2006/main">
              <a:ext uri="{FF2B5EF4-FFF2-40B4-BE49-F238E27FC236}">
                <a16:creationId xmlns:a16="http://schemas.microsoft.com/office/drawing/2014/main" id="{A4D89457-5DF1-4572-9313-A717C490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9105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BDD0DF"/>
                </a:solidFill>
                <a:latin typeface="Segoe UI"/>
                <a:ea typeface="Segoe UI"/>
                <a:cs typeface="Segoe UI"/>
              </a:defRPr>
            </a:pPr>
            <a:r>
              <a:rPr sz="2550" b="0">
                <a:solidFill>
                  <a:srgbClr val="BDD0DF"/>
                </a:solidFill>
                <a:latin typeface="Segoe UI"/>
                <a:ea typeface="Segoe UI"/>
                <a:cs typeface="Segoe UI"/>
              </a:rPr>
              <a:t>Play through headphones and speakers at once.</a:t>
            </a:r>
          </a:p>
          <a:p xmlns:a="http://schemas.openxmlformats.org/drawingml/2006/main">
            <a:pPr>
              <a:defRPr sz="2550" b="0">
                <a:solidFill>
                  <a:srgbClr val="BDD0DF"/>
                </a:solidFill>
                <a:latin typeface="Segoe UI"/>
                <a:ea typeface="Segoe UI"/>
                <a:cs typeface="Segoe UI"/>
              </a:defRPr>
            </a:pPr>
            <a:r>
              <a:rPr sz="2550" b="0">
                <a:solidFill>
                  <a:srgbClr val="BDD0DF"/>
                </a:solidFill>
                <a:latin typeface="Segoe UI"/>
                <a:ea typeface="Segoe UI"/>
                <a:cs typeface="Segoe UI"/>
              </a:rPr>
              <a:t>Give each device its own level and EQ profile.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a2f5928c9c4c85"/>
          <a:stretch xmlns:a="http://schemas.openxmlformats.org/drawingml/2006/main"/>
        </p:blipFill>
        <p:spPr>
          <a:xfrm xmlns:a="http://schemas.openxmlformats.org/drawingml/2006/main">
            <a:off x="457200" y="5067300"/>
            <a:ext cx="9372600" cy="5096351"/>
          </a:xfrm>
          <a:prstGeom xmlns:a="http://schemas.openxmlformats.org/drawingml/2006/main" prst="rect">
            <a:avLst/>
          </a:prstGeom>
        </p:spPr>
      </p:pic>
      <p:sp>
        <p:nvSpPr>
          <p:cNvPr id="8" name="Separate devices. Separate tuning.">
            <a:extLst xmlns:a="http://schemas.openxmlformats.org/drawingml/2006/main">
              <a:ext uri="{FF2B5EF4-FFF2-40B4-BE49-F238E27FC236}">
                <a16:creationId xmlns:a16="http://schemas.microsoft.com/office/drawing/2014/main" id="{55C41EE6-2131-431E-A275-CB609911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87025"/>
            <a:ext cx="9105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6DE7DC"/>
                </a:solidFill>
                <a:latin typeface="Segoe UI"/>
                <a:ea typeface="Segoe UI"/>
                <a:cs typeface="Segoe UI"/>
              </a:defRPr>
            </a:pPr>
            <a:r>
              <a:rPr sz="3375" b="1">
                <a:solidFill>
                  <a:srgbClr val="6DE7DC"/>
                </a:solidFill>
                <a:latin typeface="Segoe UI"/>
                <a:ea typeface="Segoe UI"/>
                <a:cs typeface="Segoe UI"/>
              </a:rPr>
              <a:t>Separate devices. Separate tuning.</a:t>
            </a:r>
          </a:p>
        </p:txBody>
      </p:sp>
      <p:sp>
        <p:nvSpPr>
          <p:cNvPr id="9" name="Mirroring runs while FluidEQ is open. Playback del">
            <a:extLst xmlns:a="http://schemas.openxmlformats.org/drawingml/2006/main">
              <a:ext uri="{FF2B5EF4-FFF2-40B4-BE49-F238E27FC236}">
                <a16:creationId xmlns:a16="http://schemas.microsoft.com/office/drawing/2014/main" id="{8D4A2BC8-1514-458B-84DF-22F6F56B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0"/>
            <a:ext cx="9105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DD0DF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BDD0DF"/>
                </a:solidFill>
                <a:latin typeface="Segoe UI"/>
                <a:ea typeface="Segoe UI"/>
                <a:cs typeface="Segoe UI"/>
              </a:rPr>
              <a:t>Mirroring runs while FluidEQ is open.</a:t>
            </a:r>
          </a:p>
          <a:p xmlns:a="http://schemas.openxmlformats.org/drawingml/2006/main">
            <a:pPr>
              <a:defRPr sz="2175" b="0">
                <a:solidFill>
                  <a:srgbClr val="BDD0DF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BDD0DF"/>
                </a:solidFill>
                <a:latin typeface="Segoe UI"/>
                <a:ea typeface="Segoe UI"/>
                <a:cs typeface="Segoe UI"/>
              </a:rPr>
              <a:t>Playback delay depends on your devices.</a:t>
            </a:r>
          </a:p>
        </p:txBody>
      </p:sp>
    </p:spTree>
    <p:extLst>
      <p:ext uri="{BB962C8B-B14F-4D97-AF65-F5344CB8AC3E}">
        <p14:creationId xmlns:p14="http://schemas.microsoft.com/office/powerpoint/2010/main" val="9269440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0F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35d112f6cd4cd7"/>
          <a:stretch xmlns:a="http://schemas.openxmlformats.org/drawingml/2006/main"/>
        </p:blipFill>
        <p:spPr>
          <a:xfrm xmlns:a="http://schemas.openxmlformats.org/drawingml/2006/main">
            <a:off x="609600" y="5334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2" name="FluidEQ">
            <a:extLst xmlns:a="http://schemas.openxmlformats.org/drawingml/2006/main">
              <a:ext uri="{FF2B5EF4-FFF2-40B4-BE49-F238E27FC236}">
                <a16:creationId xmlns:a16="http://schemas.microsoft.com/office/drawing/2014/main" id="{642C4119-7DE8-4B84-AC36-3C5055DF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4292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FluidEQ</a:t>
            </a:r>
          </a:p>
        </p:txBody>
      </p:sp>
      <p:sp>
        <p:nvSpPr>
          <p:cNvPr id="3" name="fluideq.com">
            <a:extLst xmlns:a="http://schemas.openxmlformats.org/drawingml/2006/main">
              <a:ext uri="{FF2B5EF4-FFF2-40B4-BE49-F238E27FC236}">
                <a16:creationId xmlns:a16="http://schemas.microsoft.com/office/drawing/2014/main" id="{DA25EE10-882F-40B3-B9F7-A4B295C6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2532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DD0DF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BDD0DF"/>
                </a:solidFill>
                <a:latin typeface="Segoe UI"/>
                <a:ea typeface="Segoe UI"/>
                <a:cs typeface="Segoe UI"/>
              </a:rPr>
              <a:t>fluideq.com</a:t>
            </a:r>
          </a:p>
        </p:txBody>
      </p:sp>
      <p:sp>
        <p:nvSpPr>
          <p:cNvPr id="4" name="03 / 11">
            <a:extLst xmlns:a="http://schemas.openxmlformats.org/drawingml/2006/main">
              <a:ext uri="{FF2B5EF4-FFF2-40B4-BE49-F238E27FC236}">
                <a16:creationId xmlns:a16="http://schemas.microsoft.com/office/drawing/2014/main" id="{35906943-7CDD-43C8-8A02-5C22CC6A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2125325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DD0D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BDD0DF"/>
                </a:solidFill>
                <a:latin typeface="Segoe UI"/>
                <a:ea typeface="Segoe UI"/>
                <a:cs typeface="Segoe UI"/>
              </a:rPr>
              <a:t>03 / 11</a:t>
            </a:r>
          </a:p>
        </p:txBody>
      </p:sp>
      <p:sp>
        <p:nvSpPr>
          <p:cNvPr id="5" name="Share Audio Your PCs, heard together">
            <a:extLst xmlns:a="http://schemas.openxmlformats.org/drawingml/2006/main">
              <a:ext uri="{FF2B5EF4-FFF2-40B4-BE49-F238E27FC236}">
                <a16:creationId xmlns:a16="http://schemas.microsoft.com/office/drawing/2014/main" id="{4C4BFF02-6CEB-46FE-BFC5-25A4C83C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91059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4875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Share Audio</a:t>
            </a:r>
          </a:p>
          <a:p xmlns:a="http://schemas.openxmlformats.org/drawingml/2006/main">
            <a:pPr>
              <a:defRPr sz="48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4875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Your PCs, heard together</a:t>
            </a:r>
          </a:p>
        </p:txBody>
      </p:sp>
      <p:sp>
        <p:nvSpPr>
          <p:cNvPr id="6" name="Hear your other PCs through the computer connected">
            <a:extLst xmlns:a="http://schemas.openxmlformats.org/drawingml/2006/main">
              <a:ext uri="{FF2B5EF4-FFF2-40B4-BE49-F238E27FC236}">
                <a16:creationId xmlns:a16="http://schemas.microsoft.com/office/drawing/2014/main" id="{98F5F6BD-91E3-42EC-B742-5D542F53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9105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BDD0DF"/>
                </a:solidFill>
                <a:latin typeface="Segoe UI"/>
                <a:ea typeface="Segoe UI"/>
                <a:cs typeface="Segoe UI"/>
              </a:defRPr>
            </a:pPr>
            <a:r>
              <a:rPr sz="2625" b="0">
                <a:solidFill>
                  <a:srgbClr val="BDD0DF"/>
                </a:solidFill>
                <a:latin typeface="Segoe UI"/>
                <a:ea typeface="Segoe UI"/>
                <a:cs typeface="Segoe UI"/>
              </a:rPr>
              <a:t>Hear your other PCs through the computer</a:t>
            </a:r>
          </a:p>
          <a:p xmlns:a="http://schemas.openxmlformats.org/drawingml/2006/main">
            <a:pPr>
              <a:defRPr sz="2625" b="0">
                <a:solidFill>
                  <a:srgbClr val="BDD0DF"/>
                </a:solidFill>
                <a:latin typeface="Segoe UI"/>
                <a:ea typeface="Segoe UI"/>
                <a:cs typeface="Segoe UI"/>
              </a:defRPr>
            </a:pPr>
            <a:r>
              <a:rPr sz="2625" b="0">
                <a:solidFill>
                  <a:srgbClr val="BDD0DF"/>
                </a:solidFill>
                <a:latin typeface="Segoe UI"/>
                <a:ea typeface="Segoe UI"/>
                <a:cs typeface="Segoe UI"/>
              </a:rPr>
              <a:t>connected to your headphones or speakers.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9092d46a3d41ff"/>
          <a:stretch xmlns:a="http://schemas.openxmlformats.org/drawingml/2006/main"/>
        </p:blipFill>
        <p:spPr>
          <a:xfrm xmlns:a="http://schemas.openxmlformats.org/drawingml/2006/main">
            <a:off x="457201" y="5143500"/>
            <a:ext cx="9372598" cy="1944719"/>
          </a:xfrm>
          <a:prstGeom xmlns:a="http://schemas.openxmlformats.org/drawingml/2006/main" prst="rect">
            <a:avLst/>
          </a:prstGeom>
        </p:spPr>
      </p:pic>
      <p:sp>
        <p:nvSpPr>
          <p:cNvPr id="8" name="Several senders, one receiver">
            <a:extLst xmlns:a="http://schemas.openxmlformats.org/drawingml/2006/main">
              <a:ext uri="{FF2B5EF4-FFF2-40B4-BE49-F238E27FC236}">
                <a16:creationId xmlns:a16="http://schemas.microsoft.com/office/drawing/2014/main" id="{2BA88BDC-CF44-4684-BD13-BFBD82F09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0"/>
            <a:ext cx="9105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6DE7DC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6DE7DC"/>
                </a:solidFill>
                <a:latin typeface="Segoe UI"/>
                <a:ea typeface="Segoe UI"/>
                <a:cs typeface="Segoe UI"/>
              </a:rPr>
              <a:t>Several senders, one receiver</a:t>
            </a:r>
          </a:p>
        </p:txBody>
      </p:sp>
      <p:sp>
        <p:nvSpPr>
          <p:cNvPr id="9" name="Same private network. Pair with a connection code.">
            <a:extLst xmlns:a="http://schemas.openxmlformats.org/drawingml/2006/main">
              <a:ext uri="{FF2B5EF4-FFF2-40B4-BE49-F238E27FC236}">
                <a16:creationId xmlns:a16="http://schemas.microsoft.com/office/drawing/2014/main" id="{5D462C60-9BB1-40BB-B8E7-121BFAA2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10625"/>
            <a:ext cx="91059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2925" b="0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Same private network.</a:t>
            </a:r>
          </a:p>
          <a:p xmlns:a="http://schemas.openxmlformats.org/drawingml/2006/main">
            <a:pPr>
              <a:defRPr sz="29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2925" b="0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Pair with a connection code.</a:t>
            </a:r>
          </a:p>
          <a:p xmlns:a="http://schemas.openxmlformats.org/drawingml/2006/main">
            <a:pPr>
              <a:defRPr sz="29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2925" b="0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Keep FluidEQ open on both ends.</a:t>
            </a:r>
          </a:p>
        </p:txBody>
      </p:sp>
      <p:sp>
        <p:nvSpPr>
          <p:cNvPr id="10" name="Shared audio bypasses the local Library DSP rack.">
            <a:extLst xmlns:a="http://schemas.openxmlformats.org/drawingml/2006/main">
              <a:ext uri="{FF2B5EF4-FFF2-40B4-BE49-F238E27FC236}">
                <a16:creationId xmlns:a16="http://schemas.microsoft.com/office/drawing/2014/main" id="{B5BD6CAA-28F0-4A5A-8B50-F8D45A46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44275"/>
            <a:ext cx="923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DD0DF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BDD0DF"/>
                </a:solidFill>
                <a:latin typeface="Segoe UI"/>
                <a:ea typeface="Segoe UI"/>
                <a:cs typeface="Segoe UI"/>
              </a:rPr>
              <a:t>Shared audio bypasses the local Library DSP rack.</a:t>
            </a:r>
          </a:p>
        </p:txBody>
      </p:sp>
    </p:spTree>
    <p:extLst>
      <p:ext uri="{BB962C8B-B14F-4D97-AF65-F5344CB8AC3E}">
        <p14:creationId xmlns:p14="http://schemas.microsoft.com/office/powerpoint/2010/main" val="14823731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0F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b017407fb14a73"/>
          <a:stretch xmlns:a="http://schemas.openxmlformats.org/drawingml/2006/main"/>
        </p:blipFill>
        <p:spPr>
          <a:xfrm xmlns:a="http://schemas.openxmlformats.org/drawingml/2006/main">
            <a:off x="609600" y="5334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2" name="FluidEQ">
            <a:extLst xmlns:a="http://schemas.openxmlformats.org/drawingml/2006/main">
              <a:ext uri="{FF2B5EF4-FFF2-40B4-BE49-F238E27FC236}">
                <a16:creationId xmlns:a16="http://schemas.microsoft.com/office/drawing/2014/main" id="{61B52417-1276-43E7-8A58-1BFADB99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4292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FluidEQ</a:t>
            </a:r>
          </a:p>
        </p:txBody>
      </p:sp>
      <p:sp>
        <p:nvSpPr>
          <p:cNvPr id="3" name="fluideq.com">
            <a:extLst xmlns:a="http://schemas.openxmlformats.org/drawingml/2006/main">
              <a:ext uri="{FF2B5EF4-FFF2-40B4-BE49-F238E27FC236}">
                <a16:creationId xmlns:a16="http://schemas.microsoft.com/office/drawing/2014/main" id="{D287FE66-92D6-4601-B6F2-26619817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2532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DD0DF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BDD0DF"/>
                </a:solidFill>
                <a:latin typeface="Segoe UI"/>
                <a:ea typeface="Segoe UI"/>
                <a:cs typeface="Segoe UI"/>
              </a:rPr>
              <a:t>fluideq.com</a:t>
            </a:r>
          </a:p>
        </p:txBody>
      </p:sp>
      <p:sp>
        <p:nvSpPr>
          <p:cNvPr id="4" name="04 / 11">
            <a:extLst xmlns:a="http://schemas.openxmlformats.org/drawingml/2006/main">
              <a:ext uri="{FF2B5EF4-FFF2-40B4-BE49-F238E27FC236}">
                <a16:creationId xmlns:a16="http://schemas.microsoft.com/office/drawing/2014/main" id="{C5393292-3295-4825-9F00-D9295C89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2125325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DD0D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BDD0DF"/>
                </a:solidFill>
                <a:latin typeface="Segoe UI"/>
                <a:ea typeface="Segoe UI"/>
                <a:cs typeface="Segoe UI"/>
              </a:rPr>
              <a:t>04 / 11</a:t>
            </a:r>
          </a:p>
        </p:txBody>
      </p:sp>
      <p:sp>
        <p:nvSpPr>
          <p:cNvPr id="5" name="Tuning that fits your headphones">
            <a:extLst xmlns:a="http://schemas.openxmlformats.org/drawingml/2006/main">
              <a:ext uri="{FF2B5EF4-FFF2-40B4-BE49-F238E27FC236}">
                <a16:creationId xmlns:a16="http://schemas.microsoft.com/office/drawing/2014/main" id="{BF306E3F-A820-433D-A57D-6B97FDEA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91059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5700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Tuning that fits</a:t>
            </a:r>
          </a:p>
          <a:p xmlns:a="http://schemas.openxmlformats.org/drawingml/2006/main">
            <a:pPr>
              <a:defRPr sz="57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5700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your headphones</a:t>
            </a:r>
          </a:p>
        </p:txBody>
      </p:sp>
      <p:sp>
        <p:nvSpPr>
          <p:cNvPr id="6" name="Start with a measured correction. Then make the so">
            <a:extLst xmlns:a="http://schemas.openxmlformats.org/drawingml/2006/main">
              <a:ext uri="{FF2B5EF4-FFF2-40B4-BE49-F238E27FC236}">
                <a16:creationId xmlns:a16="http://schemas.microsoft.com/office/drawing/2014/main" id="{45E0BD64-60B8-4C70-9D15-85E3E39A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904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BDD0DF"/>
                </a:solidFill>
                <a:latin typeface="Segoe UI"/>
                <a:ea typeface="Segoe UI"/>
                <a:cs typeface="Segoe UI"/>
              </a:defRPr>
            </a:pPr>
            <a:r>
              <a:rPr sz="2700" b="0">
                <a:solidFill>
                  <a:srgbClr val="BDD0DF"/>
                </a:solidFill>
                <a:latin typeface="Segoe UI"/>
                <a:ea typeface="Segoe UI"/>
                <a:cs typeface="Segoe UI"/>
              </a:rPr>
              <a:t>Start with a measured correction.</a:t>
            </a:r>
          </a:p>
          <a:p xmlns:a="http://schemas.openxmlformats.org/drawingml/2006/main">
            <a:pPr>
              <a:defRPr sz="2700" b="0">
                <a:solidFill>
                  <a:srgbClr val="BDD0DF"/>
                </a:solidFill>
                <a:latin typeface="Segoe UI"/>
                <a:ea typeface="Segoe UI"/>
                <a:cs typeface="Segoe UI"/>
              </a:defRPr>
            </a:pPr>
            <a:r>
              <a:rPr sz="2700" b="0">
                <a:solidFill>
                  <a:srgbClr val="BDD0DF"/>
                </a:solidFill>
                <a:latin typeface="Segoe UI"/>
                <a:ea typeface="Segoe UI"/>
                <a:cs typeface="Segoe UI"/>
              </a:rPr>
              <a:t>Then make the sound your own.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7bb3b081fe4de1"/>
          <a:stretch xmlns:a="http://schemas.openxmlformats.org/drawingml/2006/main"/>
        </p:blipFill>
        <p:spPr>
          <a:xfrm xmlns:a="http://schemas.openxmlformats.org/drawingml/2006/main">
            <a:off x="457200" y="5067300"/>
            <a:ext cx="9372600" cy="5096351"/>
          </a:xfrm>
          <a:prstGeom xmlns:a="http://schemas.openxmlformats.org/drawingml/2006/main" prst="rect">
            <a:avLst/>
          </a:prstGeom>
        </p:spPr>
      </p:pic>
      <p:sp>
        <p:nvSpPr>
          <p:cNvPr id="8" name="6,229">
            <a:extLst xmlns:a="http://schemas.openxmlformats.org/drawingml/2006/main">
              <a:ext uri="{FF2B5EF4-FFF2-40B4-BE49-F238E27FC236}">
                <a16:creationId xmlns:a16="http://schemas.microsoft.com/office/drawing/2014/main" id="{7F0BF62A-BB0B-46F3-903E-9AB62BB11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363200"/>
            <a:ext cx="34766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050" b="1">
                <a:solidFill>
                  <a:srgbClr val="6DE7DC"/>
                </a:solidFill>
                <a:latin typeface="Segoe UI"/>
                <a:ea typeface="Segoe UI"/>
                <a:cs typeface="Segoe UI"/>
              </a:defRPr>
            </a:pPr>
            <a:r>
              <a:rPr sz="7050" b="1">
                <a:solidFill>
                  <a:srgbClr val="6DE7DC"/>
                </a:solidFill>
                <a:latin typeface="Segoe UI"/>
                <a:ea typeface="Segoe UI"/>
                <a:cs typeface="Segoe UI"/>
              </a:rPr>
              <a:t>6,229</a:t>
            </a:r>
          </a:p>
        </p:txBody>
      </p:sp>
      <p:sp>
        <p:nvSpPr>
          <p:cNvPr id="9" name="headphone models in the offline OPRA library">
            <a:extLst xmlns:a="http://schemas.openxmlformats.org/drawingml/2006/main">
              <a:ext uri="{FF2B5EF4-FFF2-40B4-BE49-F238E27FC236}">
                <a16:creationId xmlns:a16="http://schemas.microsoft.com/office/drawing/2014/main" id="{3DE91BF8-F6FE-4D1C-A9BD-69FAD103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10610850"/>
            <a:ext cx="571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BDD0DF"/>
                </a:solidFill>
                <a:latin typeface="Segoe UI"/>
                <a:ea typeface="Segoe UI"/>
                <a:cs typeface="Segoe UI"/>
              </a:defRPr>
            </a:pPr>
            <a:r>
              <a:rPr sz="2475" b="0">
                <a:solidFill>
                  <a:srgbClr val="BDD0DF"/>
                </a:solidFill>
                <a:latin typeface="Segoe UI"/>
                <a:ea typeface="Segoe UI"/>
                <a:cs typeface="Segoe UI"/>
              </a:rPr>
              <a:t>headphone models</a:t>
            </a:r>
          </a:p>
          <a:p xmlns:a="http://schemas.openxmlformats.org/drawingml/2006/main">
            <a:pPr>
              <a:defRPr sz="2475" b="0">
                <a:solidFill>
                  <a:srgbClr val="BDD0DF"/>
                </a:solidFill>
                <a:latin typeface="Segoe UI"/>
                <a:ea typeface="Segoe UI"/>
                <a:cs typeface="Segoe UI"/>
              </a:defRPr>
            </a:pPr>
            <a:r>
              <a:rPr sz="2475" b="0">
                <a:solidFill>
                  <a:srgbClr val="BDD0DF"/>
                </a:solidFill>
                <a:latin typeface="Segoe UI"/>
                <a:ea typeface="Segoe UI"/>
                <a:cs typeface="Segoe UI"/>
              </a:rPr>
              <a:t>in the offline OPRA library</a:t>
            </a:r>
          </a:p>
        </p:txBody>
      </p:sp>
    </p:spTree>
    <p:extLst>
      <p:ext uri="{BB962C8B-B14F-4D97-AF65-F5344CB8AC3E}">
        <p14:creationId xmlns:p14="http://schemas.microsoft.com/office/powerpoint/2010/main" val="9351292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0F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bf62bfac11426d"/>
          <a:stretch xmlns:a="http://schemas.openxmlformats.org/drawingml/2006/main"/>
        </p:blipFill>
        <p:spPr>
          <a:xfrm xmlns:a="http://schemas.openxmlformats.org/drawingml/2006/main">
            <a:off x="609600" y="5334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2" name="FluidEQ">
            <a:extLst xmlns:a="http://schemas.openxmlformats.org/drawingml/2006/main">
              <a:ext uri="{FF2B5EF4-FFF2-40B4-BE49-F238E27FC236}">
                <a16:creationId xmlns:a16="http://schemas.microsoft.com/office/drawing/2014/main" id="{849A558E-29BD-461F-A97F-7F13320F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4292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FluidEQ</a:t>
            </a:r>
          </a:p>
        </p:txBody>
      </p:sp>
      <p:sp>
        <p:nvSpPr>
          <p:cNvPr id="3" name="fluideq.com">
            <a:extLst xmlns:a="http://schemas.openxmlformats.org/drawingml/2006/main">
              <a:ext uri="{FF2B5EF4-FFF2-40B4-BE49-F238E27FC236}">
                <a16:creationId xmlns:a16="http://schemas.microsoft.com/office/drawing/2014/main" id="{14538D77-19B2-4149-BB56-419E5F21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2532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DD0DF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BDD0DF"/>
                </a:solidFill>
                <a:latin typeface="Segoe UI"/>
                <a:ea typeface="Segoe UI"/>
                <a:cs typeface="Segoe UI"/>
              </a:rPr>
              <a:t>fluideq.com</a:t>
            </a:r>
          </a:p>
        </p:txBody>
      </p:sp>
      <p:sp>
        <p:nvSpPr>
          <p:cNvPr id="4" name="05 / 11">
            <a:extLst xmlns:a="http://schemas.openxmlformats.org/drawingml/2006/main">
              <a:ext uri="{FF2B5EF4-FFF2-40B4-BE49-F238E27FC236}">
                <a16:creationId xmlns:a16="http://schemas.microsoft.com/office/drawing/2014/main" id="{16D46135-7A82-45C7-9835-2410F7D7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2125325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DD0D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BDD0DF"/>
                </a:solidFill>
                <a:latin typeface="Segoe UI"/>
                <a:ea typeface="Segoe UI"/>
                <a:cs typeface="Segoe UI"/>
              </a:rPr>
              <a:t>05 / 11</a:t>
            </a:r>
          </a:p>
        </p:txBody>
      </p:sp>
      <p:sp>
        <p:nvSpPr>
          <p:cNvPr id="5" name="Each device keeps its own sound">
            <a:extLst xmlns:a="http://schemas.openxmlformats.org/drawingml/2006/main">
              <a:ext uri="{FF2B5EF4-FFF2-40B4-BE49-F238E27FC236}">
                <a16:creationId xmlns:a16="http://schemas.microsoft.com/office/drawing/2014/main" id="{7788A33D-35D9-445D-97B6-2BE60BAB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91059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5700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Each device keeps</a:t>
            </a:r>
          </a:p>
          <a:p xmlns:a="http://schemas.openxmlformats.org/drawingml/2006/main">
            <a:pPr>
              <a:defRPr sz="57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5700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its own sound</a:t>
            </a:r>
          </a:p>
        </p:txBody>
      </p:sp>
      <p:sp>
        <p:nvSpPr>
          <p:cNvPr id="6" name="Switch from headphones to speakers. Your saved tun">
            <a:extLst xmlns:a="http://schemas.openxmlformats.org/drawingml/2006/main">
              <a:ext uri="{FF2B5EF4-FFF2-40B4-BE49-F238E27FC236}">
                <a16:creationId xmlns:a16="http://schemas.microsoft.com/office/drawing/2014/main" id="{472ED57F-A566-4365-824E-725227E4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904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BDD0DF"/>
                </a:solidFill>
                <a:latin typeface="Segoe UI"/>
                <a:ea typeface="Segoe UI"/>
                <a:cs typeface="Segoe UI"/>
              </a:defRPr>
            </a:pPr>
            <a:r>
              <a:rPr sz="2700" b="0">
                <a:solidFill>
                  <a:srgbClr val="BDD0DF"/>
                </a:solidFill>
                <a:latin typeface="Segoe UI"/>
                <a:ea typeface="Segoe UI"/>
                <a:cs typeface="Segoe UI"/>
              </a:rPr>
              <a:t>Switch from headphones to speakers.</a:t>
            </a:r>
          </a:p>
          <a:p xmlns:a="http://schemas.openxmlformats.org/drawingml/2006/main">
            <a:pPr>
              <a:defRPr sz="2700" b="0">
                <a:solidFill>
                  <a:srgbClr val="BDD0DF"/>
                </a:solidFill>
                <a:latin typeface="Segoe UI"/>
                <a:ea typeface="Segoe UI"/>
                <a:cs typeface="Segoe UI"/>
              </a:defRPr>
            </a:pPr>
            <a:r>
              <a:rPr sz="2700" b="0">
                <a:solidFill>
                  <a:srgbClr val="BDD0DF"/>
                </a:solidFill>
                <a:latin typeface="Segoe UI"/>
                <a:ea typeface="Segoe UI"/>
                <a:cs typeface="Segoe UI"/>
              </a:rPr>
              <a:t>Your saved tuning follows the output.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aefb93af8e4ef1"/>
          <a:stretch xmlns:a="http://schemas.openxmlformats.org/drawingml/2006/main"/>
        </p:blipFill>
        <p:spPr>
          <a:xfrm xmlns:a="http://schemas.openxmlformats.org/drawingml/2006/main">
            <a:off x="457200" y="5067300"/>
            <a:ext cx="9372600" cy="5096351"/>
          </a:xfrm>
          <a:prstGeom xmlns:a="http://schemas.openxmlformats.org/drawingml/2006/main" prst="rect">
            <a:avLst/>
          </a:prstGeom>
        </p:spPr>
      </p:pic>
      <p:sp>
        <p:nvSpPr>
          <p:cNvPr id="8" name="Up to 128 EQ bands per output">
            <a:extLst xmlns:a="http://schemas.openxmlformats.org/drawingml/2006/main">
              <a:ext uri="{FF2B5EF4-FFF2-40B4-BE49-F238E27FC236}">
                <a16:creationId xmlns:a16="http://schemas.microsoft.com/office/drawing/2014/main" id="{76D9295E-43C5-4377-A0EE-D539BC0A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87025"/>
            <a:ext cx="904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6DE7DC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6DE7DC"/>
                </a:solidFill>
                <a:latin typeface="Segoe UI"/>
                <a:ea typeface="Segoe UI"/>
                <a:cs typeface="Segoe UI"/>
              </a:rPr>
              <a:t>Up to 128 EQ bands per output</a:t>
            </a:r>
          </a:p>
        </p:txBody>
      </p:sp>
      <p:sp>
        <p:nvSpPr>
          <p:cNvPr id="9" name="System EQ on Windows, powered by Equalizer APO.">
            <a:extLst xmlns:a="http://schemas.openxmlformats.org/drawingml/2006/main">
              <a:ext uri="{FF2B5EF4-FFF2-40B4-BE49-F238E27FC236}">
                <a16:creationId xmlns:a16="http://schemas.microsoft.com/office/drawing/2014/main" id="{6DD19866-4FDF-4225-A27C-4DF9A0E4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68075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BDD0DF"/>
                </a:solidFill>
                <a:latin typeface="Segoe UI"/>
                <a:ea typeface="Segoe UI"/>
                <a:cs typeface="Segoe UI"/>
              </a:defRPr>
            </a:pPr>
            <a:r>
              <a:rPr sz="2325" b="0">
                <a:solidFill>
                  <a:srgbClr val="BDD0DF"/>
                </a:solidFill>
                <a:latin typeface="Segoe UI"/>
                <a:ea typeface="Segoe UI"/>
                <a:cs typeface="Segoe UI"/>
              </a:rPr>
              <a:t>System EQ on Windows, powered by Equalizer APO.</a:t>
            </a:r>
          </a:p>
        </p:txBody>
      </p:sp>
    </p:spTree>
    <p:extLst>
      <p:ext uri="{BB962C8B-B14F-4D97-AF65-F5344CB8AC3E}">
        <p14:creationId xmlns:p14="http://schemas.microsoft.com/office/powerpoint/2010/main" val="7211063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0F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070069a4af46d0"/>
          <a:stretch xmlns:a="http://schemas.openxmlformats.org/drawingml/2006/main"/>
        </p:blipFill>
        <p:spPr>
          <a:xfrm xmlns:a="http://schemas.openxmlformats.org/drawingml/2006/main">
            <a:off x="609600" y="5334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2" name="FluidEQ">
            <a:extLst xmlns:a="http://schemas.openxmlformats.org/drawingml/2006/main">
              <a:ext uri="{FF2B5EF4-FFF2-40B4-BE49-F238E27FC236}">
                <a16:creationId xmlns:a16="http://schemas.microsoft.com/office/drawing/2014/main" id="{60C6A6BD-F535-4F7C-9723-FCFB361B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4292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FluidEQ</a:t>
            </a:r>
          </a:p>
        </p:txBody>
      </p:sp>
      <p:sp>
        <p:nvSpPr>
          <p:cNvPr id="3" name="fluideq.com">
            <a:extLst xmlns:a="http://schemas.openxmlformats.org/drawingml/2006/main">
              <a:ext uri="{FF2B5EF4-FFF2-40B4-BE49-F238E27FC236}">
                <a16:creationId xmlns:a16="http://schemas.microsoft.com/office/drawing/2014/main" id="{2EDC1F84-06AE-4E6E-B714-0EE05F67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2532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DD0DF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BDD0DF"/>
                </a:solidFill>
                <a:latin typeface="Segoe UI"/>
                <a:ea typeface="Segoe UI"/>
                <a:cs typeface="Segoe UI"/>
              </a:rPr>
              <a:t>fluideq.com</a:t>
            </a:r>
          </a:p>
        </p:txBody>
      </p:sp>
      <p:sp>
        <p:nvSpPr>
          <p:cNvPr id="4" name="06 / 11">
            <a:extLst xmlns:a="http://schemas.openxmlformats.org/drawingml/2006/main">
              <a:ext uri="{FF2B5EF4-FFF2-40B4-BE49-F238E27FC236}">
                <a16:creationId xmlns:a16="http://schemas.microsoft.com/office/drawing/2014/main" id="{85D9980C-CFC5-4C29-BB37-BA73132D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2125325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DD0D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BDD0DF"/>
                </a:solidFill>
                <a:latin typeface="Segoe UI"/>
                <a:ea typeface="Segoe UI"/>
                <a:cs typeface="Segoe UI"/>
              </a:rPr>
              <a:t>06 / 11</a:t>
            </a:r>
          </a:p>
        </p:txBody>
      </p:sp>
      <p:sp>
        <p:nvSpPr>
          <p:cNvPr id="5" name="More control over your local music">
            <a:extLst xmlns:a="http://schemas.openxmlformats.org/drawingml/2006/main">
              <a:ext uri="{FF2B5EF4-FFF2-40B4-BE49-F238E27FC236}">
                <a16:creationId xmlns:a16="http://schemas.microsoft.com/office/drawing/2014/main" id="{9D8B1737-5506-4962-A928-7A641E45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91059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5700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More control over</a:t>
            </a:r>
          </a:p>
          <a:p xmlns:a="http://schemas.openxmlformats.org/drawingml/2006/main">
            <a:pPr>
              <a:defRPr sz="57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5700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your local music</a:t>
            </a:r>
          </a:p>
        </p:txBody>
      </p:sp>
      <p:sp>
        <p:nvSpPr>
          <p:cNvPr id="6" name="Clean up noise, shape bass and control loudness. S">
            <a:extLst xmlns:a="http://schemas.openxmlformats.org/drawingml/2006/main">
              <a:ext uri="{FF2B5EF4-FFF2-40B4-BE49-F238E27FC236}">
                <a16:creationId xmlns:a16="http://schemas.microsoft.com/office/drawing/2014/main" id="{E7FC9653-F260-4B59-89AA-671B7E07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923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BDD0DF"/>
                </a:solidFill>
                <a:latin typeface="Segoe UI"/>
                <a:ea typeface="Segoe UI"/>
                <a:cs typeface="Segoe UI"/>
              </a:defRPr>
            </a:pPr>
            <a:r>
              <a:rPr sz="2550" b="0">
                <a:solidFill>
                  <a:srgbClr val="BDD0DF"/>
                </a:solidFill>
                <a:latin typeface="Segoe UI"/>
                <a:ea typeface="Segoe UI"/>
                <a:cs typeface="Segoe UI"/>
              </a:rPr>
              <a:t>Clean up noise, shape bass and control loudness.</a:t>
            </a:r>
          </a:p>
          <a:p xmlns:a="http://schemas.openxmlformats.org/drawingml/2006/main">
            <a:pPr>
              <a:defRPr sz="2550" b="0">
                <a:solidFill>
                  <a:srgbClr val="BDD0DF"/>
                </a:solidFill>
                <a:latin typeface="Segoe UI"/>
                <a:ea typeface="Segoe UI"/>
                <a:cs typeface="Segoe UI"/>
              </a:defRPr>
            </a:pPr>
            <a:r>
              <a:rPr sz="2550" b="0">
                <a:solidFill>
                  <a:srgbClr val="BDD0DF"/>
                </a:solidFill>
                <a:latin typeface="Segoe UI"/>
                <a:ea typeface="Segoe UI"/>
                <a:cs typeface="Segoe UI"/>
              </a:rPr>
              <a:t>Save the processing chain you like.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6f298683be4a9f"/>
          <a:stretch xmlns:a="http://schemas.openxmlformats.org/drawingml/2006/main"/>
        </p:blipFill>
        <p:spPr>
          <a:xfrm xmlns:a="http://schemas.openxmlformats.org/drawingml/2006/main">
            <a:off x="457200" y="5067300"/>
            <a:ext cx="9372600" cy="5096351"/>
          </a:xfrm>
          <a:prstGeom xmlns:a="http://schemas.openxmlformats.org/drawingml/2006/main" prst="rect">
            <a:avLst/>
          </a:prstGeom>
        </p:spPr>
      </p:pic>
      <p:sp>
        <p:nvSpPr>
          <p:cNvPr id="8" name="9 processing stages">
            <a:extLst xmlns:a="http://schemas.openxmlformats.org/drawingml/2006/main">
              <a:ext uri="{FF2B5EF4-FFF2-40B4-BE49-F238E27FC236}">
                <a16:creationId xmlns:a16="http://schemas.microsoft.com/office/drawing/2014/main" id="{F319734E-6464-45CD-A457-C6948925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0"/>
            <a:ext cx="9048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6DE7DC"/>
                </a:solidFill>
                <a:latin typeface="Segoe UI"/>
                <a:ea typeface="Segoe UI"/>
                <a:cs typeface="Segoe UI"/>
              </a:defRPr>
            </a:pPr>
            <a:r>
              <a:rPr sz="4200" b="1">
                <a:solidFill>
                  <a:srgbClr val="6DE7DC"/>
                </a:solidFill>
                <a:latin typeface="Segoe UI"/>
                <a:ea typeface="Segoe UI"/>
                <a:cs typeface="Segoe UI"/>
              </a:rPr>
              <a:t>9 processing stages</a:t>
            </a:r>
          </a:p>
        </p:txBody>
      </p:sp>
      <p:sp>
        <p:nvSpPr>
          <p:cNvPr id="9" name="DSP applies to FluidEQ's local player, not other a">
            <a:extLst xmlns:a="http://schemas.openxmlformats.org/drawingml/2006/main">
              <a:ext uri="{FF2B5EF4-FFF2-40B4-BE49-F238E27FC236}">
                <a16:creationId xmlns:a16="http://schemas.microsoft.com/office/drawing/2014/main" id="{1ADA9286-3D49-4D82-859E-733577A3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44275"/>
            <a:ext cx="923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BDD0DF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BDD0DF"/>
                </a:solidFill>
                <a:latin typeface="Segoe UI"/>
                <a:ea typeface="Segoe UI"/>
                <a:cs typeface="Segoe UI"/>
              </a:rPr>
              <a:t>DSP applies to FluidEQ's local player, not other apps.</a:t>
            </a:r>
          </a:p>
        </p:txBody>
      </p:sp>
    </p:spTree>
    <p:extLst>
      <p:ext uri="{BB962C8B-B14F-4D97-AF65-F5344CB8AC3E}">
        <p14:creationId xmlns:p14="http://schemas.microsoft.com/office/powerpoint/2010/main" val="10660964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0F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61cb51c06a47aa"/>
          <a:stretch xmlns:a="http://schemas.openxmlformats.org/drawingml/2006/main"/>
        </p:blipFill>
        <p:spPr>
          <a:xfrm xmlns:a="http://schemas.openxmlformats.org/drawingml/2006/main">
            <a:off x="609600" y="5334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2" name="FluidEQ">
            <a:extLst xmlns:a="http://schemas.openxmlformats.org/drawingml/2006/main">
              <a:ext uri="{FF2B5EF4-FFF2-40B4-BE49-F238E27FC236}">
                <a16:creationId xmlns:a16="http://schemas.microsoft.com/office/drawing/2014/main" id="{EFDFC7D5-9F27-4CFA-AA3D-56DD7381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4292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FluidEQ</a:t>
            </a:r>
          </a:p>
        </p:txBody>
      </p:sp>
      <p:sp>
        <p:nvSpPr>
          <p:cNvPr id="3" name="fluideq.com">
            <a:extLst xmlns:a="http://schemas.openxmlformats.org/drawingml/2006/main">
              <a:ext uri="{FF2B5EF4-FFF2-40B4-BE49-F238E27FC236}">
                <a16:creationId xmlns:a16="http://schemas.microsoft.com/office/drawing/2014/main" id="{BA8CD8CD-5157-4E6F-95FA-E3476272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2532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DD0DF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BDD0DF"/>
                </a:solidFill>
                <a:latin typeface="Segoe UI"/>
                <a:ea typeface="Segoe UI"/>
                <a:cs typeface="Segoe UI"/>
              </a:rPr>
              <a:t>fluideq.com</a:t>
            </a:r>
          </a:p>
        </p:txBody>
      </p:sp>
      <p:sp>
        <p:nvSpPr>
          <p:cNvPr id="4" name="07 / 11">
            <a:extLst xmlns:a="http://schemas.openxmlformats.org/drawingml/2006/main">
              <a:ext uri="{FF2B5EF4-FFF2-40B4-BE49-F238E27FC236}">
                <a16:creationId xmlns:a16="http://schemas.microsoft.com/office/drawing/2014/main" id="{5A53781C-F035-49B3-9A1A-CD1DA4F0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2125325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DD0D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BDD0DF"/>
                </a:solidFill>
                <a:latin typeface="Segoe UI"/>
                <a:ea typeface="Segoe UI"/>
                <a:cs typeface="Segoe UI"/>
              </a:rPr>
              <a:t>07 / 11</a:t>
            </a:r>
          </a:p>
        </p:txBody>
      </p:sp>
      <p:sp>
        <p:nvSpPr>
          <p:cNvPr id="5" name="Your collection, back in the spotlight">
            <a:extLst xmlns:a="http://schemas.openxmlformats.org/drawingml/2006/main">
              <a:ext uri="{FF2B5EF4-FFF2-40B4-BE49-F238E27FC236}">
                <a16:creationId xmlns:a16="http://schemas.microsoft.com/office/drawing/2014/main" id="{737D4F2A-C06C-4D07-B5B4-A19CC56A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93345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5400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Your collection,</a:t>
            </a:r>
          </a:p>
          <a:p xmlns:a="http://schemas.openxmlformats.org/drawingml/2006/main">
            <a:pPr>
              <a:defRPr sz="54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5400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back in the spotlight</a:t>
            </a:r>
          </a:p>
        </p:txBody>
      </p:sp>
      <p:sp>
        <p:nvSpPr>
          <p:cNvPr id="6" name="Browse your albums in Cover Flow. Build a queue fr">
            <a:extLst xmlns:a="http://schemas.openxmlformats.org/drawingml/2006/main">
              <a:ext uri="{FF2B5EF4-FFF2-40B4-BE49-F238E27FC236}">
                <a16:creationId xmlns:a16="http://schemas.microsoft.com/office/drawing/2014/main" id="{CCCF72E9-9A56-4E69-B4F9-F5C4559E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BDD0DF"/>
                </a:solidFill>
                <a:latin typeface="Segoe UI"/>
                <a:ea typeface="Segoe UI"/>
                <a:cs typeface="Segoe UI"/>
              </a:defRPr>
            </a:pPr>
            <a:r>
              <a:rPr sz="2550" b="0">
                <a:solidFill>
                  <a:srgbClr val="BDD0DF"/>
                </a:solidFill>
                <a:latin typeface="Segoe UI"/>
                <a:ea typeface="Segoe UI"/>
                <a:cs typeface="Segoe UI"/>
              </a:rPr>
              <a:t>Browse your albums in Cover Flow.</a:t>
            </a:r>
          </a:p>
          <a:p xmlns:a="http://schemas.openxmlformats.org/drawingml/2006/main">
            <a:pPr>
              <a:defRPr sz="2550" b="0">
                <a:solidFill>
                  <a:srgbClr val="BDD0DF"/>
                </a:solidFill>
                <a:latin typeface="Segoe UI"/>
                <a:ea typeface="Segoe UI"/>
                <a:cs typeface="Segoe UI"/>
              </a:defRPr>
            </a:pPr>
            <a:r>
              <a:rPr sz="2550" b="0">
                <a:solidFill>
                  <a:srgbClr val="BDD0DF"/>
                </a:solidFill>
                <a:latin typeface="Segoe UI"/>
                <a:ea typeface="Segoe UI"/>
                <a:cs typeface="Segoe UI"/>
              </a:rPr>
              <a:t>Build a queue from the music you already own.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284fe15e6c4b87"/>
          <a:stretch xmlns:a="http://schemas.openxmlformats.org/drawingml/2006/main"/>
        </p:blipFill>
        <p:spPr>
          <a:xfrm xmlns:a="http://schemas.openxmlformats.org/drawingml/2006/main">
            <a:off x="457200" y="5067300"/>
            <a:ext cx="9372600" cy="5096351"/>
          </a:xfrm>
          <a:prstGeom xmlns:a="http://schemas.openxmlformats.org/drawingml/2006/main" prst="rect">
            <a:avLst/>
          </a:prstGeom>
        </p:spPr>
      </p:pic>
      <p:sp>
        <p:nvSpPr>
          <p:cNvPr id="8" name="A home for your local music">
            <a:extLst xmlns:a="http://schemas.openxmlformats.org/drawingml/2006/main">
              <a:ext uri="{FF2B5EF4-FFF2-40B4-BE49-F238E27FC236}">
                <a16:creationId xmlns:a16="http://schemas.microsoft.com/office/drawing/2014/main" id="{87A40EA8-17FD-4D3E-B895-D7211A5A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87025"/>
            <a:ext cx="9048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6DE7DC"/>
                </a:solidFill>
                <a:latin typeface="Segoe UI"/>
                <a:ea typeface="Segoe UI"/>
                <a:cs typeface="Segoe UI"/>
              </a:defRPr>
            </a:pPr>
            <a:r>
              <a:rPr sz="3675" b="1">
                <a:solidFill>
                  <a:srgbClr val="6DE7DC"/>
                </a:solidFill>
                <a:latin typeface="Segoe UI"/>
                <a:ea typeface="Segoe UI"/>
                <a:cs typeface="Segoe UI"/>
              </a:rPr>
              <a:t>A home for your local music</a:t>
            </a:r>
          </a:p>
        </p:txBody>
      </p:sp>
      <p:sp>
        <p:nvSpPr>
          <p:cNvPr id="9" name="FLAC, MP3, WAV, M4A and more.">
            <a:extLst xmlns:a="http://schemas.openxmlformats.org/drawingml/2006/main">
              <a:ext uri="{FF2B5EF4-FFF2-40B4-BE49-F238E27FC236}">
                <a16:creationId xmlns:a16="http://schemas.microsoft.com/office/drawing/2014/main" id="{D6391AE7-1DBE-41F9-8AA1-02222733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44275"/>
            <a:ext cx="904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BDD0DF"/>
                </a:solidFill>
                <a:latin typeface="Segoe UI"/>
                <a:ea typeface="Segoe UI"/>
                <a:cs typeface="Segoe UI"/>
              </a:defRPr>
            </a:pPr>
            <a:r>
              <a:rPr sz="2550" b="0">
                <a:solidFill>
                  <a:srgbClr val="BDD0DF"/>
                </a:solidFill>
                <a:latin typeface="Segoe UI"/>
                <a:ea typeface="Segoe UI"/>
                <a:cs typeface="Segoe UI"/>
              </a:rPr>
              <a:t>FLAC, MP3, WAV, M4A and more.</a:t>
            </a:r>
          </a:p>
        </p:txBody>
      </p:sp>
    </p:spTree>
    <p:extLst>
      <p:ext uri="{BB962C8B-B14F-4D97-AF65-F5344CB8AC3E}">
        <p14:creationId xmlns:p14="http://schemas.microsoft.com/office/powerpoint/2010/main" val="12904229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0F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e46fe2f6d6447e"/>
          <a:stretch xmlns:a="http://schemas.openxmlformats.org/drawingml/2006/main"/>
        </p:blipFill>
        <p:spPr>
          <a:xfrm xmlns:a="http://schemas.openxmlformats.org/drawingml/2006/main">
            <a:off x="609600" y="5334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2" name="FluidEQ">
            <a:extLst xmlns:a="http://schemas.openxmlformats.org/drawingml/2006/main">
              <a:ext uri="{FF2B5EF4-FFF2-40B4-BE49-F238E27FC236}">
                <a16:creationId xmlns:a16="http://schemas.microsoft.com/office/drawing/2014/main" id="{036374EE-628A-4611-9CDE-63DDAF27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4292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FluidEQ</a:t>
            </a:r>
          </a:p>
        </p:txBody>
      </p:sp>
      <p:sp>
        <p:nvSpPr>
          <p:cNvPr id="3" name="fluideq.com">
            <a:extLst xmlns:a="http://schemas.openxmlformats.org/drawingml/2006/main">
              <a:ext uri="{FF2B5EF4-FFF2-40B4-BE49-F238E27FC236}">
                <a16:creationId xmlns:a16="http://schemas.microsoft.com/office/drawing/2014/main" id="{7AF87291-9C3C-4069-AAD9-B112AA7C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2532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DD0DF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BDD0DF"/>
                </a:solidFill>
                <a:latin typeface="Segoe UI"/>
                <a:ea typeface="Segoe UI"/>
                <a:cs typeface="Segoe UI"/>
              </a:rPr>
              <a:t>fluideq.com</a:t>
            </a:r>
          </a:p>
        </p:txBody>
      </p:sp>
      <p:sp>
        <p:nvSpPr>
          <p:cNvPr id="4" name="08 / 11">
            <a:extLst xmlns:a="http://schemas.openxmlformats.org/drawingml/2006/main">
              <a:ext uri="{FF2B5EF4-FFF2-40B4-BE49-F238E27FC236}">
                <a16:creationId xmlns:a16="http://schemas.microsoft.com/office/drawing/2014/main" id="{1A5FD676-4616-4EB7-9DE0-A94C3ABE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2125325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DD0D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BDD0DF"/>
                </a:solidFill>
                <a:latin typeface="Segoe UI"/>
                <a:ea typeface="Segoe UI"/>
                <a:cs typeface="Segoe UI"/>
              </a:rPr>
              <a:t>08 / 11</a:t>
            </a:r>
          </a:p>
        </p:txBody>
      </p:sp>
      <p:sp>
        <p:nvSpPr>
          <p:cNvPr id="5" name="A visualizer with your signature">
            <a:extLst xmlns:a="http://schemas.openxmlformats.org/drawingml/2006/main">
              <a:ext uri="{FF2B5EF4-FFF2-40B4-BE49-F238E27FC236}">
                <a16:creationId xmlns:a16="http://schemas.microsoft.com/office/drawing/2014/main" id="{05F46CEB-01C6-468A-8CFB-99B41B8E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93345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5700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A visualizer</a:t>
            </a:r>
          </a:p>
          <a:p xmlns:a="http://schemas.openxmlformats.org/drawingml/2006/main">
            <a:pPr>
              <a:defRPr sz="57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5700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with your signature</a:t>
            </a:r>
          </a:p>
        </p:txBody>
      </p:sp>
      <p:sp>
        <p:nvSpPr>
          <p:cNvPr id="6" name="Choose a form. Adjust its color and glow. Watch yo">
            <a:extLst xmlns:a="http://schemas.openxmlformats.org/drawingml/2006/main">
              <a:ext uri="{FF2B5EF4-FFF2-40B4-BE49-F238E27FC236}">
                <a16:creationId xmlns:a16="http://schemas.microsoft.com/office/drawing/2014/main" id="{4342E363-E7EE-4B2E-A597-59649678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904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BDD0DF"/>
                </a:solidFill>
                <a:latin typeface="Segoe UI"/>
                <a:ea typeface="Segoe UI"/>
                <a:cs typeface="Segoe UI"/>
              </a:defRPr>
            </a:pPr>
            <a:r>
              <a:rPr sz="2700" b="0">
                <a:solidFill>
                  <a:srgbClr val="BDD0DF"/>
                </a:solidFill>
                <a:latin typeface="Segoe UI"/>
                <a:ea typeface="Segoe UI"/>
                <a:cs typeface="Segoe UI"/>
              </a:rPr>
              <a:t>Choose a form. Adjust its color and glow.</a:t>
            </a:r>
          </a:p>
          <a:p xmlns:a="http://schemas.openxmlformats.org/drawingml/2006/main">
            <a:pPr>
              <a:defRPr sz="2700" b="0">
                <a:solidFill>
                  <a:srgbClr val="BDD0DF"/>
                </a:solidFill>
                <a:latin typeface="Segoe UI"/>
                <a:ea typeface="Segoe UI"/>
                <a:cs typeface="Segoe UI"/>
              </a:defRPr>
            </a:pPr>
            <a:r>
              <a:rPr sz="2700" b="0">
                <a:solidFill>
                  <a:srgbClr val="BDD0DF"/>
                </a:solidFill>
                <a:latin typeface="Segoe UI"/>
                <a:ea typeface="Segoe UI"/>
                <a:cs typeface="Segoe UI"/>
              </a:rPr>
              <a:t>Watch your music fill the screen.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09acdabdfd4e1d"/>
          <a:stretch xmlns:a="http://schemas.openxmlformats.org/drawingml/2006/main"/>
        </p:blipFill>
        <p:spPr>
          <a:xfrm xmlns:a="http://schemas.openxmlformats.org/drawingml/2006/main">
            <a:off x="457200" y="5067300"/>
            <a:ext cx="9372600" cy="5096351"/>
          </a:xfrm>
          <a:prstGeom xmlns:a="http://schemas.openxmlformats.org/drawingml/2006/main" prst="rect">
            <a:avLst/>
          </a:prstGeom>
        </p:spPr>
      </p:pic>
      <p:sp>
        <p:nvSpPr>
          <p:cNvPr id="8" name="Made to be personalized">
            <a:extLst xmlns:a="http://schemas.openxmlformats.org/drawingml/2006/main">
              <a:ext uri="{FF2B5EF4-FFF2-40B4-BE49-F238E27FC236}">
                <a16:creationId xmlns:a16="http://schemas.microsoft.com/office/drawing/2014/main" id="{77961A43-DF9E-4182-B97D-6A40E685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87025"/>
            <a:ext cx="9144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6DE7DC"/>
                </a:solidFill>
                <a:latin typeface="Segoe UI"/>
                <a:ea typeface="Segoe UI"/>
                <a:cs typeface="Segoe UI"/>
              </a:defRPr>
            </a:pPr>
            <a:r>
              <a:rPr sz="3975" b="1">
                <a:solidFill>
                  <a:srgbClr val="6DE7DC"/>
                </a:solidFill>
                <a:latin typeface="Segoe UI"/>
                <a:ea typeface="Segoe UI"/>
                <a:cs typeface="Segoe UI"/>
              </a:rPr>
              <a:t>Made to be personalized</a:t>
            </a:r>
          </a:p>
        </p:txBody>
      </p:sp>
      <p:sp>
        <p:nvSpPr>
          <p:cNvPr id="9" name="Live controls for palette, density and motion.">
            <a:extLst xmlns:a="http://schemas.openxmlformats.org/drawingml/2006/main">
              <a:ext uri="{FF2B5EF4-FFF2-40B4-BE49-F238E27FC236}">
                <a16:creationId xmlns:a16="http://schemas.microsoft.com/office/drawing/2014/main" id="{5DC82CC1-5E70-44BF-9FED-E7E37CB5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44275"/>
            <a:ext cx="904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BDD0DF"/>
                </a:solidFill>
                <a:latin typeface="Segoe UI"/>
                <a:ea typeface="Segoe UI"/>
                <a:cs typeface="Segoe UI"/>
              </a:defRPr>
            </a:pPr>
            <a:r>
              <a:rPr sz="2475" b="0">
                <a:solidFill>
                  <a:srgbClr val="BDD0DF"/>
                </a:solidFill>
                <a:latin typeface="Segoe UI"/>
                <a:ea typeface="Segoe UI"/>
                <a:cs typeface="Segoe UI"/>
              </a:rPr>
              <a:t>Live controls for palette, density and motion.</a:t>
            </a:r>
          </a:p>
        </p:txBody>
      </p:sp>
    </p:spTree>
    <p:extLst>
      <p:ext uri="{BB962C8B-B14F-4D97-AF65-F5344CB8AC3E}">
        <p14:creationId xmlns:p14="http://schemas.microsoft.com/office/powerpoint/2010/main" val="15447588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0F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61195b04714440"/>
          <a:stretch xmlns:a="http://schemas.openxmlformats.org/drawingml/2006/main"/>
        </p:blipFill>
        <p:spPr>
          <a:xfrm xmlns:a="http://schemas.openxmlformats.org/drawingml/2006/main">
            <a:off x="609600" y="5334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2" name="FluidEQ">
            <a:extLst xmlns:a="http://schemas.openxmlformats.org/drawingml/2006/main">
              <a:ext uri="{FF2B5EF4-FFF2-40B4-BE49-F238E27FC236}">
                <a16:creationId xmlns:a16="http://schemas.microsoft.com/office/drawing/2014/main" id="{B5719BCD-6B88-4D1D-B045-DDA6EABF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4292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FluidEQ</a:t>
            </a:r>
          </a:p>
        </p:txBody>
      </p:sp>
      <p:sp>
        <p:nvSpPr>
          <p:cNvPr id="3" name="fluideq.com">
            <a:extLst xmlns:a="http://schemas.openxmlformats.org/drawingml/2006/main">
              <a:ext uri="{FF2B5EF4-FFF2-40B4-BE49-F238E27FC236}">
                <a16:creationId xmlns:a16="http://schemas.microsoft.com/office/drawing/2014/main" id="{04297375-42FD-4FAF-98C2-105FC759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2532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DD0DF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BDD0DF"/>
                </a:solidFill>
                <a:latin typeface="Segoe UI"/>
                <a:ea typeface="Segoe UI"/>
                <a:cs typeface="Segoe UI"/>
              </a:rPr>
              <a:t>fluideq.com</a:t>
            </a:r>
          </a:p>
        </p:txBody>
      </p:sp>
      <p:sp>
        <p:nvSpPr>
          <p:cNvPr id="4" name="09 / 11">
            <a:extLst xmlns:a="http://schemas.openxmlformats.org/drawingml/2006/main">
              <a:ext uri="{FF2B5EF4-FFF2-40B4-BE49-F238E27FC236}">
                <a16:creationId xmlns:a16="http://schemas.microsoft.com/office/drawing/2014/main" id="{E8ADFF65-9AA3-4297-879C-8ADA3F5B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2125325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DD0D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BDD0DF"/>
                </a:solidFill>
                <a:latin typeface="Segoe UI"/>
                <a:ea typeface="Segoe UI"/>
                <a:cs typeface="Segoe UI"/>
              </a:rPr>
              <a:t>09 / 11</a:t>
            </a:r>
          </a:p>
        </p:txBody>
      </p:sp>
      <p:sp>
        <p:nvSpPr>
          <p:cNvPr id="5" name="Your next karaoke night starts here">
            <a:extLst xmlns:a="http://schemas.openxmlformats.org/drawingml/2006/main">
              <a:ext uri="{FF2B5EF4-FFF2-40B4-BE49-F238E27FC236}">
                <a16:creationId xmlns:a16="http://schemas.microsoft.com/office/drawing/2014/main" id="{9730632F-1654-4BE9-A891-BB536C90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93345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5700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Your next karaoke</a:t>
            </a:r>
          </a:p>
          <a:p xmlns:a="http://schemas.openxmlformats.org/drawingml/2006/main">
            <a:pPr>
              <a:defRPr sz="57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5700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night starts here</a:t>
            </a:r>
          </a:p>
        </p:txBody>
      </p:sp>
      <p:sp>
        <p:nvSpPr>
          <p:cNvPr id="6" name="Bring your songs and timed lyrics. Sing along on a">
            <a:extLst xmlns:a="http://schemas.openxmlformats.org/drawingml/2006/main">
              <a:ext uri="{FF2B5EF4-FFF2-40B4-BE49-F238E27FC236}">
                <a16:creationId xmlns:a16="http://schemas.microsoft.com/office/drawing/2014/main" id="{A24A11F7-6047-4453-8EF5-A3F2F625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904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BDD0DF"/>
                </a:solidFill>
                <a:latin typeface="Segoe UI"/>
                <a:ea typeface="Segoe UI"/>
                <a:cs typeface="Segoe UI"/>
              </a:defRPr>
            </a:pPr>
            <a:r>
              <a:rPr sz="2700" b="0">
                <a:solidFill>
                  <a:srgbClr val="BDD0DF"/>
                </a:solidFill>
                <a:latin typeface="Segoe UI"/>
                <a:ea typeface="Segoe UI"/>
                <a:cs typeface="Segoe UI"/>
              </a:rPr>
              <a:t>Bring your songs and timed lyrics.</a:t>
            </a:r>
          </a:p>
          <a:p xmlns:a="http://schemas.openxmlformats.org/drawingml/2006/main">
            <a:pPr>
              <a:defRPr sz="2700" b="0">
                <a:solidFill>
                  <a:srgbClr val="BDD0DF"/>
                </a:solidFill>
                <a:latin typeface="Segoe UI"/>
                <a:ea typeface="Segoe UI"/>
                <a:cs typeface="Segoe UI"/>
              </a:defRPr>
            </a:pPr>
            <a:r>
              <a:rPr sz="2700" b="0">
                <a:solidFill>
                  <a:srgbClr val="BDD0DF"/>
                </a:solidFill>
                <a:latin typeface="Segoe UI"/>
                <a:ea typeface="Segoe UI"/>
                <a:cs typeface="Segoe UI"/>
              </a:rPr>
              <a:t>Sing along on a full-screen stage.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ccde5b74d0457b"/>
          <a:stretch xmlns:a="http://schemas.openxmlformats.org/drawingml/2006/main"/>
        </p:blipFill>
        <p:spPr>
          <a:xfrm xmlns:a="http://schemas.openxmlformats.org/drawingml/2006/main">
            <a:off x="457200" y="5067300"/>
            <a:ext cx="9372600" cy="5096351"/>
          </a:xfrm>
          <a:prstGeom xmlns:a="http://schemas.openxmlformats.org/drawingml/2006/main" prst="rect">
            <a:avLst/>
          </a:prstGeom>
        </p:spPr>
      </p:pic>
      <p:sp>
        <p:nvSpPr>
          <p:cNvPr id="8" name="Live pitch feedback">
            <a:extLst xmlns:a="http://schemas.openxmlformats.org/drawingml/2006/main">
              <a:ext uri="{FF2B5EF4-FFF2-40B4-BE49-F238E27FC236}">
                <a16:creationId xmlns:a16="http://schemas.microsoft.com/office/drawing/2014/main" id="{CF67D90A-56D4-4E79-AEFC-6D0F7004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87025"/>
            <a:ext cx="9048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6DE7DC"/>
                </a:solidFill>
                <a:latin typeface="Segoe UI"/>
                <a:ea typeface="Segoe UI"/>
                <a:cs typeface="Segoe UI"/>
              </a:defRPr>
            </a:pPr>
            <a:r>
              <a:rPr sz="4275" b="1">
                <a:solidFill>
                  <a:srgbClr val="6DE7DC"/>
                </a:solidFill>
                <a:latin typeface="Segoe UI"/>
                <a:ea typeface="Segoe UI"/>
                <a:cs typeface="Segoe UI"/>
              </a:rPr>
              <a:t>Live pitch feedback</a:t>
            </a:r>
          </a:p>
        </p:txBody>
      </p:sp>
      <p:sp>
        <p:nvSpPr>
          <p:cNvPr id="9" name="Connect a microphone. Target notes need a compatib">
            <a:extLst xmlns:a="http://schemas.openxmlformats.org/drawingml/2006/main">
              <a:ext uri="{FF2B5EF4-FFF2-40B4-BE49-F238E27FC236}">
                <a16:creationId xmlns:a16="http://schemas.microsoft.com/office/drawing/2014/main" id="{DB9B2E88-BCEF-4EC0-A35F-4DD94FDC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01400"/>
            <a:ext cx="9048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DD0DF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BDD0DF"/>
                </a:solidFill>
                <a:latin typeface="Segoe UI"/>
                <a:ea typeface="Segoe UI"/>
                <a:cs typeface="Segoe UI"/>
              </a:rPr>
              <a:t>Connect a microphone. Target notes need</a:t>
            </a:r>
          </a:p>
          <a:p xmlns:a="http://schemas.openxmlformats.org/drawingml/2006/main">
            <a:pPr>
              <a:defRPr sz="2175" b="0">
                <a:solidFill>
                  <a:srgbClr val="BDD0DF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BDD0DF"/>
                </a:solidFill>
                <a:latin typeface="Segoe UI"/>
                <a:ea typeface="Segoe UI"/>
                <a:cs typeface="Segoe UI"/>
              </a:rPr>
              <a:t>a compatible lyric file. Music is not included.</a:t>
            </a:r>
          </a:p>
        </p:txBody>
      </p:sp>
    </p:spTree>
    <p:extLst>
      <p:ext uri="{BB962C8B-B14F-4D97-AF65-F5344CB8AC3E}">
        <p14:creationId xmlns:p14="http://schemas.microsoft.com/office/powerpoint/2010/main" val="4475292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0F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370c445f814846"/>
          <a:stretch xmlns:a="http://schemas.openxmlformats.org/drawingml/2006/main"/>
        </p:blipFill>
        <p:spPr>
          <a:xfrm xmlns:a="http://schemas.openxmlformats.org/drawingml/2006/main">
            <a:off x="609600" y="5334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2" name="FluidEQ">
            <a:extLst xmlns:a="http://schemas.openxmlformats.org/drawingml/2006/main">
              <a:ext uri="{FF2B5EF4-FFF2-40B4-BE49-F238E27FC236}">
                <a16:creationId xmlns:a16="http://schemas.microsoft.com/office/drawing/2014/main" id="{27724D46-C253-4568-8B9E-8413736F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4292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FluidEQ</a:t>
            </a:r>
          </a:p>
        </p:txBody>
      </p:sp>
      <p:sp>
        <p:nvSpPr>
          <p:cNvPr id="3" name="fluideq.com">
            <a:extLst xmlns:a="http://schemas.openxmlformats.org/drawingml/2006/main">
              <a:ext uri="{FF2B5EF4-FFF2-40B4-BE49-F238E27FC236}">
                <a16:creationId xmlns:a16="http://schemas.microsoft.com/office/drawing/2014/main" id="{C24E469C-E833-49DB-943B-99A50718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2532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DD0DF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BDD0DF"/>
                </a:solidFill>
                <a:latin typeface="Segoe UI"/>
                <a:ea typeface="Segoe UI"/>
                <a:cs typeface="Segoe UI"/>
              </a:rPr>
              <a:t>fluideq.com</a:t>
            </a:r>
          </a:p>
        </p:txBody>
      </p:sp>
      <p:sp>
        <p:nvSpPr>
          <p:cNvPr id="4" name="10 / 11">
            <a:extLst xmlns:a="http://schemas.openxmlformats.org/drawingml/2006/main">
              <a:ext uri="{FF2B5EF4-FFF2-40B4-BE49-F238E27FC236}">
                <a16:creationId xmlns:a16="http://schemas.microsoft.com/office/drawing/2014/main" id="{45161BE3-6AF6-4FE0-BB92-0A42DE41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2125325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DD0D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BDD0DF"/>
                </a:solidFill>
                <a:latin typeface="Segoe UI"/>
                <a:ea typeface="Segoe UI"/>
                <a:cs typeface="Segoe UI"/>
              </a:rPr>
              <a:t>10 / 11</a:t>
            </a:r>
          </a:p>
        </p:txBody>
      </p:sp>
      <p:sp>
        <p:nvSpPr>
          <p:cNvPr id="5" name="A karaoke version you can make yourself">
            <a:extLst xmlns:a="http://schemas.openxmlformats.org/drawingml/2006/main">
              <a:ext uri="{FF2B5EF4-FFF2-40B4-BE49-F238E27FC236}">
                <a16:creationId xmlns:a16="http://schemas.microsoft.com/office/drawing/2014/main" id="{5797A448-2CC2-4414-B9D5-3F138EB6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93726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5250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A karaoke version</a:t>
            </a:r>
          </a:p>
          <a:p xmlns:a="http://schemas.openxmlformats.org/drawingml/2006/main">
            <a:pPr>
              <a:defRPr sz="52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5250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you can make yourself</a:t>
            </a:r>
          </a:p>
        </p:txBody>
      </p:sp>
      <p:sp>
        <p:nvSpPr>
          <p:cNvPr id="6" name="Separate voice and backing. Edit lyric timing and ">
            <a:extLst xmlns:a="http://schemas.openxmlformats.org/drawingml/2006/main">
              <a:ext uri="{FF2B5EF4-FFF2-40B4-BE49-F238E27FC236}">
                <a16:creationId xmlns:a16="http://schemas.microsoft.com/office/drawing/2014/main" id="{2C7B0144-ECDF-48EE-B384-1C4C4B09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923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BDD0DF"/>
                </a:solidFill>
                <a:latin typeface="Segoe UI"/>
                <a:ea typeface="Segoe UI"/>
                <a:cs typeface="Segoe UI"/>
              </a:defRPr>
            </a:pPr>
            <a:r>
              <a:rPr sz="2550" b="0">
                <a:solidFill>
                  <a:srgbClr val="BDD0DF"/>
                </a:solidFill>
                <a:latin typeface="Segoe UI"/>
                <a:ea typeface="Segoe UI"/>
                <a:cs typeface="Segoe UI"/>
              </a:rPr>
              <a:t>Separate voice and backing. Edit lyric timing</a:t>
            </a:r>
          </a:p>
          <a:p xmlns:a="http://schemas.openxmlformats.org/drawingml/2006/main">
            <a:pPr>
              <a:defRPr sz="2550" b="0">
                <a:solidFill>
                  <a:srgbClr val="BDD0DF"/>
                </a:solidFill>
                <a:latin typeface="Segoe UI"/>
                <a:ea typeface="Segoe UI"/>
                <a:cs typeface="Segoe UI"/>
              </a:defRPr>
            </a:pPr>
            <a:r>
              <a:rPr sz="2550" b="0">
                <a:solidFill>
                  <a:srgbClr val="BDD0DF"/>
                </a:solidFill>
                <a:latin typeface="Segoe UI"/>
                <a:ea typeface="Segoe UI"/>
                <a:cs typeface="Segoe UI"/>
              </a:rPr>
              <a:t>and melody notes in Karaoke Maker.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b4aa97198e42bf"/>
          <a:stretch xmlns:a="http://schemas.openxmlformats.org/drawingml/2006/main"/>
        </p:blipFill>
        <p:spPr>
          <a:xfrm xmlns:a="http://schemas.openxmlformats.org/drawingml/2006/main">
            <a:off x="457200" y="5067300"/>
            <a:ext cx="9372600" cy="5096351"/>
          </a:xfrm>
          <a:prstGeom xmlns:a="http://schemas.openxmlformats.org/drawingml/2006/main" prst="rect">
            <a:avLst/>
          </a:prstGeom>
        </p:spPr>
      </p:pic>
      <p:sp>
        <p:nvSpPr>
          <p:cNvPr id="8" name="Your audio stays on your PC">
            <a:extLst xmlns:a="http://schemas.openxmlformats.org/drawingml/2006/main">
              <a:ext uri="{FF2B5EF4-FFF2-40B4-BE49-F238E27FC236}">
                <a16:creationId xmlns:a16="http://schemas.microsoft.com/office/drawing/2014/main" id="{D1A2A58E-EEE1-41E9-8784-E15E011E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87025"/>
            <a:ext cx="9105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6DE7DC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6DE7DC"/>
                </a:solidFill>
                <a:latin typeface="Segoe UI"/>
                <a:ea typeface="Segoe UI"/>
                <a:cs typeface="Segoe UI"/>
              </a:rPr>
              <a:t>Your audio stays on your PC</a:t>
            </a:r>
          </a:p>
        </p:txBody>
      </p:sp>
      <p:sp>
        <p:nvSpPr>
          <p:cNvPr id="9" name="Optional AI tools download models once. Use music ">
            <a:extLst xmlns:a="http://schemas.openxmlformats.org/drawingml/2006/main">
              <a:ext uri="{FF2B5EF4-FFF2-40B4-BE49-F238E27FC236}">
                <a16:creationId xmlns:a16="http://schemas.microsoft.com/office/drawing/2014/main" id="{C199013E-FBF7-454F-A030-088DB150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20450"/>
            <a:ext cx="914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DD0DF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BDD0DF"/>
                </a:solidFill>
                <a:latin typeface="Segoe UI"/>
                <a:ea typeface="Segoe UI"/>
                <a:cs typeface="Segoe UI"/>
              </a:rPr>
              <a:t>Optional AI tools download models once.</a:t>
            </a:r>
          </a:p>
          <a:p xmlns:a="http://schemas.openxmlformats.org/drawingml/2006/main">
            <a:pPr>
              <a:defRPr sz="2175" b="0">
                <a:solidFill>
                  <a:srgbClr val="BDD0DF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BDD0DF"/>
                </a:solidFill>
                <a:latin typeface="Segoe UI"/>
                <a:ea typeface="Segoe UI"/>
                <a:cs typeface="Segoe UI"/>
              </a:rPr>
              <a:t>Use music and lyrics you have permission to use.</a:t>
            </a:r>
          </a:p>
        </p:txBody>
      </p:sp>
    </p:spTree>
    <p:extLst>
      <p:ext uri="{BB962C8B-B14F-4D97-AF65-F5344CB8AC3E}">
        <p14:creationId xmlns:p14="http://schemas.microsoft.com/office/powerpoint/2010/main" val="19156662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0F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e7139bf9f34888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fluideq.com">
            <a:extLst xmlns:a="http://schemas.openxmlformats.org/drawingml/2006/main">
              <a:ext uri="{FF2B5EF4-FFF2-40B4-BE49-F238E27FC236}">
                <a16:creationId xmlns:a16="http://schemas.microsoft.com/office/drawing/2014/main" id="{D4DBF098-39F5-4C4A-938D-D62A437B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2532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DD0DF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BDD0DF"/>
                </a:solidFill>
                <a:latin typeface="Segoe UI"/>
                <a:ea typeface="Segoe UI"/>
                <a:cs typeface="Segoe UI"/>
              </a:rPr>
              <a:t>fluideq.com</a:t>
            </a:r>
          </a:p>
        </p:txBody>
      </p:sp>
      <p:sp>
        <p:nvSpPr>
          <p:cNvPr id="3" name="11 / 11">
            <a:extLst xmlns:a="http://schemas.openxmlformats.org/drawingml/2006/main">
              <a:ext uri="{FF2B5EF4-FFF2-40B4-BE49-F238E27FC236}">
                <a16:creationId xmlns:a16="http://schemas.microsoft.com/office/drawing/2014/main" id="{69A470FE-881A-4323-BA53-FF66ACB5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2125325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DD0D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BDD0DF"/>
                </a:solidFill>
                <a:latin typeface="Segoe UI"/>
                <a:ea typeface="Segoe UI"/>
                <a:cs typeface="Segoe UI"/>
              </a:rPr>
              <a:t>11 / 11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1be7e1abf24018"/>
          <a:stretch xmlns:a="http://schemas.openxmlformats.org/drawingml/2006/main"/>
        </p:blipFill>
        <p:spPr>
          <a:xfrm xmlns:a="http://schemas.openxmlformats.org/drawingml/2006/main">
            <a:off x="609600" y="742950"/>
            <a:ext cx="971550" cy="971550"/>
          </a:xfrm>
          <a:prstGeom xmlns:a="http://schemas.openxmlformats.org/drawingml/2006/main" prst="rect">
            <a:avLst/>
          </a:prstGeom>
        </p:spPr>
      </p:pic>
      <p:sp>
        <p:nvSpPr>
          <p:cNvPr id="5" name="FluidEQ">
            <a:extLst xmlns:a="http://schemas.openxmlformats.org/drawingml/2006/main">
              <a:ext uri="{FF2B5EF4-FFF2-40B4-BE49-F238E27FC236}">
                <a16:creationId xmlns:a16="http://schemas.microsoft.com/office/drawing/2014/main" id="{B970A51D-EA4B-4120-8467-98D54875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8382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1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8100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FluidEQ</a:t>
            </a:r>
          </a:p>
        </p:txBody>
      </p:sp>
      <p:sp>
        <p:nvSpPr>
          <p:cNvPr id="6" name="Your next listen could feel different">
            <a:extLst xmlns:a="http://schemas.openxmlformats.org/drawingml/2006/main">
              <a:ext uri="{FF2B5EF4-FFF2-40B4-BE49-F238E27FC236}">
                <a16:creationId xmlns:a16="http://schemas.microsoft.com/office/drawing/2014/main" id="{3C9DC4B4-08CE-49BB-BB49-788F07CA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8934450" cy="1876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5250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Your next listen</a:t>
            </a:r>
          </a:p>
          <a:p xmlns:a="http://schemas.openxmlformats.org/drawingml/2006/main">
            <a:pPr>
              <a:defRPr sz="525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5250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could feel different</a:t>
            </a:r>
          </a:p>
        </p:txBody>
      </p:sp>
      <p:sp>
        <p:nvSpPr>
          <p:cNvPr id="7" name="Free for Windows 10 &amp; 11. Open source. No FluidEQ ">
            <a:extLst xmlns:a="http://schemas.openxmlformats.org/drawingml/2006/main">
              <a:ext uri="{FF2B5EF4-FFF2-40B4-BE49-F238E27FC236}">
                <a16:creationId xmlns:a16="http://schemas.microsoft.com/office/drawing/2014/main" id="{A1AE1170-BD98-4F7F-95D1-BFC79FC8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8763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BDD0DF"/>
                </a:solidFill>
                <a:latin typeface="Segoe UI"/>
                <a:ea typeface="Segoe UI"/>
                <a:cs typeface="Segoe UI"/>
              </a:defRPr>
            </a:pPr>
            <a:r>
              <a:rPr sz="2700" b="0">
                <a:solidFill>
                  <a:srgbClr val="BDD0DF"/>
                </a:solidFill>
                <a:latin typeface="Segoe UI"/>
                <a:ea typeface="Segoe UI"/>
                <a:cs typeface="Segoe UI"/>
              </a:rPr>
              <a:t>Free for Windows 10 &amp; 11.</a:t>
            </a:r>
          </a:p>
          <a:p xmlns:a="http://schemas.openxmlformats.org/drawingml/2006/main">
            <a:pPr>
              <a:defRPr sz="2700" b="0">
                <a:solidFill>
                  <a:srgbClr val="BDD0DF"/>
                </a:solidFill>
                <a:latin typeface="Segoe UI"/>
                <a:ea typeface="Segoe UI"/>
                <a:cs typeface="Segoe UI"/>
              </a:defRPr>
            </a:pPr>
            <a:r>
              <a:rPr sz="2700" b="0">
                <a:solidFill>
                  <a:srgbClr val="BDD0DF"/>
                </a:solidFill>
                <a:latin typeface="Segoe UI"/>
                <a:ea typeface="Segoe UI"/>
                <a:cs typeface="Segoe UI"/>
              </a:rPr>
              <a:t>Open source. No FluidEQ account required.</a:t>
            </a:r>
          </a:p>
        </p:txBody>
      </p:sp>
      <p:sp>
        <p:nvSpPr>
          <p:cNvPr id="8" name="fluideq.com">
            <a:extLst xmlns:a="http://schemas.openxmlformats.org/drawingml/2006/main">
              <a:ext uri="{FF2B5EF4-FFF2-40B4-BE49-F238E27FC236}">
                <a16:creationId xmlns:a16="http://schemas.microsoft.com/office/drawing/2014/main" id="{2B82CAA7-65D2-4287-AD87-6E969A4C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876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000" b="1">
                <a:solidFill>
                  <a:srgbClr val="6DE7DC"/>
                </a:solidFill>
                <a:latin typeface="Segoe UI"/>
                <a:ea typeface="Segoe UI"/>
                <a:cs typeface="Segoe UI"/>
              </a:defRPr>
            </a:pPr>
            <a:r>
              <a:rPr sz="6000" b="1">
                <a:solidFill>
                  <a:srgbClr val="6DE7DC"/>
                </a:solidFill>
                <a:latin typeface="Segoe UI"/>
                <a:ea typeface="Segoe UI"/>
                <a:cs typeface="Segoe UI"/>
              </a:rPr>
              <a:t>fluideq.com</a:t>
            </a:r>
          </a:p>
        </p:txBody>
      </p:sp>
      <p:sp>
        <p:nvSpPr>
          <p:cNvPr id="9" name="Built by Ivan Carmenates Garcia">
            <a:extLst xmlns:a="http://schemas.openxmlformats.org/drawingml/2006/main">
              <a:ext uri="{FF2B5EF4-FFF2-40B4-BE49-F238E27FC236}">
                <a16:creationId xmlns:a16="http://schemas.microsoft.com/office/drawing/2014/main" id="{35411FA3-1ECA-4D0C-AE29-5D2303EE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648825"/>
            <a:ext cx="8810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2325" b="0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Built by Ivan Carmenates Garcia</a:t>
            </a:r>
          </a:p>
        </p:txBody>
      </p:sp>
      <p:sp>
        <p:nvSpPr>
          <p:cNvPr id="10" name="What would you try first?">
            <a:extLst xmlns:a="http://schemas.openxmlformats.org/drawingml/2006/main">
              <a:ext uri="{FF2B5EF4-FFF2-40B4-BE49-F238E27FC236}">
                <a16:creationId xmlns:a16="http://schemas.microsoft.com/office/drawing/2014/main" id="{8B91C046-7C03-45B7-9D7F-84AC8637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96550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4F8FC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F4F8FC"/>
                </a:solidFill>
                <a:latin typeface="Segoe UI"/>
                <a:ea typeface="Segoe UI"/>
                <a:cs typeface="Segoe UI"/>
              </a:rPr>
              <a:t>What would you try first?</a:t>
            </a:r>
          </a:p>
        </p:txBody>
      </p:sp>
    </p:spTree>
    <p:extLst>
      <p:ext uri="{BB962C8B-B14F-4D97-AF65-F5344CB8AC3E}">
        <p14:creationId xmlns:p14="http://schemas.microsoft.com/office/powerpoint/2010/main" val="21238362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2026-09-05T22:04:35.0620000Z</dcterms:created>
  <dcterms:modified xsi:type="dcterms:W3CDTF">2026-09-05T22:04:35.0620000Z</dcterms:modified>
</coreProperties>
</file>